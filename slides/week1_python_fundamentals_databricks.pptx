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84632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7DE45"/>
                </a:solidFill>
                <a:latin typeface="Inter"/>
              </a:rPr>
              <a:t>FORMATION · DATA SCIENTIST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7680960" cy="1508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Inter"/>
              </a:rPr>
              <a:t>Python Fundamentals
in Azure Databricks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676656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DDE7F4"/>
                </a:solidFill>
                <a:latin typeface="Inter"/>
              </a:rPr>
              <a:t>Semaine 1 · SAS vers Python · pandas · Spark · 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892040"/>
            <a:ext cx="15087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132588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SAS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20" y="5175503"/>
            <a:ext cx="173736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96896" y="4892040"/>
            <a:ext cx="15087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47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8336" y="5074920"/>
            <a:ext cx="132588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Python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51376" y="5175503"/>
            <a:ext cx="173736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16552" y="4892040"/>
            <a:ext cx="15087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5074920"/>
            <a:ext cx="132588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pandas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71032" y="5175503"/>
            <a:ext cx="173736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36207" y="4892040"/>
            <a:ext cx="15087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7" y="5074920"/>
            <a:ext cx="132588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Spark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90688" y="5175503"/>
            <a:ext cx="173735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55864" y="4892040"/>
            <a:ext cx="15087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7304" y="5074920"/>
            <a:ext cx="132588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À la fin de la semaine 1, vous savez...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73152" cy="114300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933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Naviguer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Ouvrir un notebook, attacher un cluster, exécuter une cellule.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73152" cy="11430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9933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Coder simple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3957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Lire variables, types, listes, fonctions et conditions.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290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429000"/>
            <a:ext cx="73152" cy="1143000"/>
          </a:xfrm>
          <a:prstGeom prst="rect">
            <a:avLst/>
          </a:prstGeom>
          <a:solidFill>
            <a:srgbClr val="387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5935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Analyser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9959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Charger, filtrer et agréger une table avec pandas.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4290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429000"/>
            <a:ext cx="73152" cy="114300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5935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Traduire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9959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Relier DATA step, PROC SQL et DataFrame Databricks.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Pourquoi Databricks?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Un espace commun pour exécuter, documenter et partager l'analyse.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Data sources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39" y="3209544"/>
            <a:ext cx="27432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900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F47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Notebook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23559" y="3209544"/>
            <a:ext cx="27432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8932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Python / SQL / Spark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83880" y="3209544"/>
            <a:ext cx="274320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4964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Analytics /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DATABRICKS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Workspace Azure Databricks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Les 5 zones à reconnaître avant de coder.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92024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73152" cy="338328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16002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Workspace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1600200" cy="2697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Dossiers partagés
Notebooks
Permissions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28800"/>
            <a:ext cx="192024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71800" y="1828800"/>
            <a:ext cx="73152" cy="3383280"/>
          </a:xfrm>
          <a:prstGeom prst="rect">
            <a:avLst/>
          </a:prstGeom>
          <a:solidFill>
            <a:srgbClr val="387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1993392"/>
            <a:ext cx="16002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Compute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2395728"/>
            <a:ext cx="1600200" cy="2697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Cluster
Run
Auto-terminate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828800"/>
            <a:ext cx="192024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12080" y="1828800"/>
            <a:ext cx="73152" cy="338328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248" y="1993392"/>
            <a:ext cx="16002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2395728"/>
            <a:ext cx="1600200" cy="2697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Tables
Schémas
Vues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828800"/>
            <a:ext cx="192024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1828800"/>
            <a:ext cx="73152" cy="338328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1993392"/>
            <a:ext cx="16002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600200" cy="2697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CSV
Storage
FileStore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1828800"/>
            <a:ext cx="192024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0" y="1828800"/>
            <a:ext cx="73152" cy="3383280"/>
          </a:xfrm>
          <a:prstGeom prst="rect">
            <a:avLst/>
          </a:prstGeom>
          <a:solidFill>
            <a:srgbClr val="387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93808" y="1993392"/>
            <a:ext cx="16002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Notebook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2395728"/>
            <a:ext cx="1600200" cy="2697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Markdown
Python
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Le notebook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Code, résultat et explication dans le même support.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29260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73152" cy="237744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93392"/>
            <a:ext cx="2606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Markdown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395728"/>
            <a:ext cx="2606040" cy="16916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Texte explicatif
Consignes
Interprétation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828800"/>
            <a:ext cx="3108960" cy="237744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993392"/>
            <a:ext cx="2743200" cy="21488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age = 45
premium = 1000
premium * 1.2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828800"/>
            <a:ext cx="29260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1828800"/>
            <a:ext cx="73152" cy="237744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1993392"/>
            <a:ext cx="2606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395728"/>
            <a:ext cx="2606040" cy="16916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SELECT region,
       AVG(charges)
FROM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SAS vs Databricks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Même logique analytique, nouvelle interface.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965960"/>
            <a:ext cx="2926080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2066543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SAS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965960"/>
            <a:ext cx="3749039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9744" y="2066543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Databricks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59152"/>
            <a:ext cx="29260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83664" y="2459736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SAS Program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359152"/>
            <a:ext cx="3749039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9744" y="2459736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Notebook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2752344"/>
            <a:ext cx="292608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83664" y="2852927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DATA Step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2752344"/>
            <a:ext cx="3749039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2852927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pandas / Spark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3145536"/>
            <a:ext cx="29260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83664" y="3246120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PROC SQL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145536"/>
            <a:ext cx="3749039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9744" y="3246120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SQL / Spark SQL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3538728"/>
            <a:ext cx="292608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83664" y="3639312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SAS Dataset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3538728"/>
            <a:ext cx="3749039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9744" y="3639312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DataFrame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3931920"/>
            <a:ext cx="29260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83664" y="4032504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SAS Libraries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3931920"/>
            <a:ext cx="3749039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9744" y="4032504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Catalog /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Une variable donne un nom à une valeur.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age = 45
region = "North"
premium = 1200.50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Types de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Les 4 types à reconnaître le premier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965960"/>
            <a:ext cx="2926080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2066543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965960"/>
            <a:ext cx="3749039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9744" y="2066543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Exemple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59152"/>
            <a:ext cx="29260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83664" y="2459736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359152"/>
            <a:ext cx="3749039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9744" y="2459736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45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2752344"/>
            <a:ext cx="292608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83664" y="2852927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float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2752344"/>
            <a:ext cx="3749039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2852927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12.5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3145536"/>
            <a:ext cx="29260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83664" y="3246120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str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145536"/>
            <a:ext cx="3749039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9744" y="3246120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"Paris"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3538728"/>
            <a:ext cx="292608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83664" y="3639312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bool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3538728"/>
            <a:ext cx="3749039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9744" y="3639312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Listes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Une liste regroupe plusieurs valeurs.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regions = ["North", "South", "East"]
regions[0]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Fonctions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Une fonction rend une règle de calcul réutilisable.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def add_tax(x):
    return x * 1.2
add_tax(1000)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Lire du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L'indentation montre ce qui appartient au bloc.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828800"/>
            <a:ext cx="4846320" cy="265176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93392"/>
            <a:ext cx="4480559" cy="24231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if smoker == "yes":
    print("Smoker")
    print("Higher risk")
print("Always executed")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3977639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37960" y="1828800"/>
            <a:ext cx="73152" cy="265176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39128" y="1993392"/>
            <a:ext cx="365759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9128" y="2395728"/>
            <a:ext cx="3657599" cy="19659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Les lignes décalées appartiennent au bloc.
On lit lentement: condition, deux actions, puis retour au flux normal.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Workflow analytics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Un enchaînement simple, proche des habitudes SAS.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Read 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39" y="3209544"/>
            <a:ext cx="27432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900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F47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Transform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23559" y="3209544"/>
            <a:ext cx="27432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8932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Analyze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83880" y="3209544"/>
            <a:ext cx="274320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4964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Visualize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Qu'est-ce qu'un DataFrame?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Une table: lignes, colonnes, types et opérations.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1097280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144" y="1929384"/>
            <a:ext cx="9875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828800"/>
            <a:ext cx="1188720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9424" y="1929384"/>
            <a:ext cx="107899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sex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28800"/>
            <a:ext cx="1097280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8144" y="1929384"/>
            <a:ext cx="9875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bmi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828800"/>
            <a:ext cx="1371600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929384"/>
            <a:ext cx="126187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smoker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828800"/>
            <a:ext cx="1463040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1929384"/>
            <a:ext cx="135331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charges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2221992"/>
            <a:ext cx="10972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144" y="2322576"/>
            <a:ext cx="9875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2221992"/>
            <a:ext cx="118872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9424" y="2322576"/>
            <a:ext cx="107899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male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2221992"/>
            <a:ext cx="10972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38144" y="2322576"/>
            <a:ext cx="9875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28.4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2221992"/>
            <a:ext cx="137160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4" y="2322576"/>
            <a:ext cx="126187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2221992"/>
            <a:ext cx="146304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07024" y="2322576"/>
            <a:ext cx="135331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8231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2615184"/>
            <a:ext cx="109728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52144" y="2715768"/>
            <a:ext cx="9875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52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94560" y="2615184"/>
            <a:ext cx="118872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49424" y="2715768"/>
            <a:ext cx="107899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female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2615184"/>
            <a:ext cx="109728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38144" y="2715768"/>
            <a:ext cx="9875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31.2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2615184"/>
            <a:ext cx="137160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35424" y="2715768"/>
            <a:ext cx="126187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615184"/>
            <a:ext cx="14630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7024" y="2715768"/>
            <a:ext cx="135331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28910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7280" y="3008376"/>
            <a:ext cx="10972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3108960"/>
            <a:ext cx="9875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29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94560" y="3008376"/>
            <a:ext cx="118872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49424" y="3108960"/>
            <a:ext cx="107899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female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3008376"/>
            <a:ext cx="10972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38144" y="3108960"/>
            <a:ext cx="9875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24.1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3008376"/>
            <a:ext cx="137160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3108960"/>
            <a:ext cx="126187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3008376"/>
            <a:ext cx="146304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07024" y="3108960"/>
            <a:ext cx="135331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4120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0" y="1828800"/>
            <a:ext cx="29260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0" y="1828800"/>
            <a:ext cx="73152" cy="196596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73568" y="1993392"/>
            <a:ext cx="2606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Mental model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73568" y="2395728"/>
            <a:ext cx="2606040" cy="12801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Excel-like table
SAS dataset
DataFrame pandas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Charger un 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pandas lit le fichier et crée un DataFrame.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import pandas as pd
df = pd.read_csv("/dbfs/FileStore/tables/insurance.csv")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Première exploration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Trois réflexes avant toute analyse.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df.head()
df.info()
df.describe()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Filtrer des lignes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On garde les lignes qui respectent une condition.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df[df["age"] &gt; 50]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Sélectionner des colonnes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On réduit la table aux variables utiles.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df[["age", "charges"]]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GroupBy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L'équivalent mental d'une agrégation par classe.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28800"/>
            <a:ext cx="4846320" cy="1371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93392"/>
            <a:ext cx="4480559" cy="1143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df.groupby("region")["charges"].mean()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977639"/>
            <a:ext cx="164592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160520"/>
            <a:ext cx="146304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Rows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39" y="4261103"/>
            <a:ext cx="320040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17520" y="3977639"/>
            <a:ext cx="164592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47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4160520"/>
            <a:ext cx="146304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Group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09159" y="4261103"/>
            <a:ext cx="32004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3977639"/>
            <a:ext cx="164592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9" y="4160520"/>
            <a:ext cx="146304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Mean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12279" y="4261103"/>
            <a:ext cx="32004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23759" y="3977639"/>
            <a:ext cx="164592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9" y="4160520"/>
            <a:ext cx="146304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Result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1828800"/>
            <a:ext cx="365760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1828800"/>
            <a:ext cx="73152" cy="246888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7" y="1993392"/>
            <a:ext cx="3337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À dire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2395728"/>
            <a:ext cx="3337560" cy="1783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On ne change pas la question métier.
On change seulement l'outil utilisé pour la poser.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SAS vs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Repères pour traduire les gestes connus.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965960"/>
            <a:ext cx="2926080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2066543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SAS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965960"/>
            <a:ext cx="3749039" cy="393192"/>
          </a:xfrm>
          <a:prstGeom prst="rect">
            <a:avLst/>
          </a:prstGeom>
          <a:solidFill>
            <a:srgbClr val="0F20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9744" y="2066543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pandas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59152"/>
            <a:ext cx="29260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83664" y="2459736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PROC FREQ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359152"/>
            <a:ext cx="3749039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9744" y="2459736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value_counts()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2752344"/>
            <a:ext cx="292608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83664" y="2852927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PROC MEANS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2752344"/>
            <a:ext cx="3749039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2852927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groupby() + agg()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3145536"/>
            <a:ext cx="2926080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83664" y="3246120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DATA Step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145536"/>
            <a:ext cx="3749039" cy="393192"/>
          </a:xfrm>
          <a:prstGeom prst="rect">
            <a:avLst/>
          </a:prstGeom>
          <a:solidFill>
            <a:srgbClr val="F6F8FC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9744" y="3246120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assign() / filters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3538728"/>
            <a:ext cx="2926080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83664" y="3639312"/>
            <a:ext cx="2816352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WHERE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3538728"/>
            <a:ext cx="3749039" cy="393192"/>
          </a:xfrm>
          <a:prstGeom prst="rect">
            <a:avLst/>
          </a:prstGeom>
          <a:solidFill>
            <a:srgbClr val="FFFFFF"/>
          </a:solidFill>
          <a:ln>
            <a:solidFill>
              <a:srgbClr val="E6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9744" y="3639312"/>
            <a:ext cx="3639311" cy="14630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Inter"/>
              </a:rPr>
              <a:t>boolean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Mini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Question métier: charges moyennes par statut fumeur.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Load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39" y="3209544"/>
            <a:ext cx="27432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900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F47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Filter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23559" y="3209544"/>
            <a:ext cx="27432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8932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Aggregate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83880" y="3209544"/>
            <a:ext cx="274320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4964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Interpret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SPARK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Pourquoi Spark?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Spark garde le modèle table, mais vise des volumes plus grands.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057400"/>
            <a:ext cx="40233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057400"/>
            <a:ext cx="73152" cy="201168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2221992"/>
            <a:ext cx="37033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624328"/>
            <a:ext cx="3703320" cy="1325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Très pratique pour apprendre et explorer.
Travaille dans la mémoire de la machine.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057400"/>
            <a:ext cx="40233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2057400"/>
            <a:ext cx="73152" cy="2011680"/>
          </a:xfrm>
          <a:prstGeom prst="rect">
            <a:avLst/>
          </a:prstGeom>
          <a:solidFill>
            <a:srgbClr val="387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7" y="2221992"/>
            <a:ext cx="37033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Spark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7" y="2624328"/>
            <a:ext cx="3703320" cy="1325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Même logique de table.
Prévu pour traiter plus gros dans Databricks.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Lire avec 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Le résultat est un Spark DataFrame.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spark_df = spark.read.csv(
    "/FileStore/tables/insurance.csv",
    header=True,
    inferSchema=True
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Transformations 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Même intention: choisir et filtrer.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spark_df.select("age", "charges")
spark_df.filter(spark_df.age &gt; 50)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Architecture simplifiée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Pour cette semaine, retenir seulement ces trois briques.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Notebook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39" y="3209544"/>
            <a:ext cx="27432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900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F47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Cluster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23559" y="3209544"/>
            <a:ext cx="274321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89320" y="2834640"/>
            <a:ext cx="21488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301752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Cellules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SQL reste disponible dans le notebook.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057400"/>
            <a:ext cx="5669280" cy="2514600"/>
          </a:xfrm>
          <a:prstGeom prst="roundRect">
            <a:avLst/>
          </a:prstGeom>
          <a:solidFill>
            <a:srgbClr val="1A212E"/>
          </a:solidFill>
          <a:ln>
            <a:solidFill>
              <a:srgbClr val="1A21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221992"/>
            <a:ext cx="5303520" cy="22860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SELECT region,
       AVG(charges) AS avg_charges
FROM insurance
GROUP BY region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574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057400"/>
            <a:ext cx="73152" cy="25146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221992"/>
            <a:ext cx="31546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624328"/>
            <a:ext cx="3154679" cy="1828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1. Lire de gauche à droite.
2. Identifier les noms.
3. Repérer les symboles.
4. Exécuter puis observer.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Databricks sert aussi à travailler ensemble.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73152" cy="114300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933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Partage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Notebooks dans un dossier commun.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73152" cy="11430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9933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Exécution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3957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Cluster partagé pour la session.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290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429000"/>
            <a:ext cx="73152" cy="1143000"/>
          </a:xfrm>
          <a:prstGeom prst="rect">
            <a:avLst/>
          </a:prstGeom>
          <a:solidFill>
            <a:srgbClr val="387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5935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Traçabilité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9959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Code, commentaires et résultats au même endroit.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4290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429000"/>
            <a:ext cx="73152" cy="114300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5935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Réutilisation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9959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Même notebook pour démo et exercices.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Exercices guidés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Chaque exercice part d'un code existant.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73152" cy="114300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933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head, columns, describe.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73152" cy="114300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9933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Filtrer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3957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age &gt; 50, smoker, BMI.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290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429000"/>
            <a:ext cx="73152" cy="1143000"/>
          </a:xfrm>
          <a:prstGeom prst="rect">
            <a:avLst/>
          </a:prstGeom>
          <a:solidFill>
            <a:srgbClr val="387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5935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Agréger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9959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charges moyennes par segment.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429000"/>
            <a:ext cx="4800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429000"/>
            <a:ext cx="73152" cy="114300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593592"/>
            <a:ext cx="44805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Traduire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995928"/>
            <a:ext cx="448056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pandas vers Spark et SQL.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EXERCICE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Mini challenge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Quel segment génère les coûts médicaux les plus élevés?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21488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Choose segment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551176"/>
            <a:ext cx="246888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47288" y="2194560"/>
            <a:ext cx="21488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F47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237744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Group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41848" y="2551176"/>
            <a:ext cx="246888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80176" y="2194560"/>
            <a:ext cx="21488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1616" y="237744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Average charges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74736" y="2551176"/>
            <a:ext cx="246888" cy="0"/>
          </a:xfrm>
          <a:prstGeom prst="line">
            <a:avLst/>
          </a:prstGeom>
          <a:ln w="17780">
            <a:solidFill>
              <a:srgbClr val="606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13064" y="2194560"/>
            <a:ext cx="21488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04504" y="2377440"/>
            <a:ext cx="1965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F2038"/>
                </a:solidFill>
                <a:latin typeface="Inter"/>
              </a:rPr>
              <a:t>Interpret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3886200"/>
            <a:ext cx="7498079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94560" y="3886200"/>
            <a:ext cx="73152" cy="109728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95728" y="4050791"/>
            <a:ext cx="7178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Livrable attendu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453128"/>
            <a:ext cx="7178040" cy="411479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Une table triée et une phrase métier: le segment le plus coûteux est ... parce que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F47738"/>
                </a:solidFill>
                <a:latin typeface="Inter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7498079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F2038"/>
                </a:solidFill>
                <a:latin typeface="Inter"/>
              </a:rPr>
              <a:t>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758952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06C80"/>
                </a:solidFill>
                <a:latin typeface="Inter"/>
              </a:rPr>
              <a:t>Les concepts à retenir avant la semaine 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187451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73152" cy="214884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67712"/>
            <a:ext cx="15544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1554479" cy="1463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Exécuter et documenter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2103120"/>
            <a:ext cx="187451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26080" y="2103120"/>
            <a:ext cx="73152" cy="2148840"/>
          </a:xfrm>
          <a:prstGeom prst="rect">
            <a:avLst/>
          </a:prstGeom>
          <a:solidFill>
            <a:srgbClr val="387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267712"/>
            <a:ext cx="15544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670048"/>
            <a:ext cx="1554479" cy="1463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Lire les bases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2103120"/>
            <a:ext cx="187451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60" y="2103120"/>
            <a:ext cx="73152" cy="2148840"/>
          </a:xfrm>
          <a:prstGeom prst="rect">
            <a:avLst/>
          </a:prstGeom>
          <a:solidFill>
            <a:srgbClr val="B7D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7528" y="2267712"/>
            <a:ext cx="15544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pandas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7528" y="2670048"/>
            <a:ext cx="1554479" cy="1463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Manipuler une 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2103120"/>
            <a:ext cx="187451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2103120"/>
            <a:ext cx="73152" cy="2148840"/>
          </a:xfrm>
          <a:prstGeom prst="rect">
            <a:avLst/>
          </a:prstGeom>
          <a:solidFill>
            <a:srgbClr val="F47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7808" y="2267712"/>
            <a:ext cx="15544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Spark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2670048"/>
            <a:ext cx="1554479" cy="1463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Découvrir les gros volumes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2103120"/>
            <a:ext cx="187451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1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46920" y="2103120"/>
            <a:ext cx="73152" cy="2148840"/>
          </a:xfrm>
          <a:prstGeom prst="rect">
            <a:avLst/>
          </a:prstGeom>
          <a:solidFill>
            <a:srgbClr val="387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48088" y="2267712"/>
            <a:ext cx="15544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F2038"/>
                </a:solidFill>
                <a:latin typeface="Inter"/>
              </a:rPr>
              <a:t>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8088" y="2670048"/>
            <a:ext cx="1554479" cy="1463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06C80"/>
                </a:solidFill>
                <a:latin typeface="Inter"/>
              </a:rPr>
              <a:t>Réutiliser les acquis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09360"/>
            <a:ext cx="9144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/>
            <a:r>
              <a:rPr sz="800" b="1">
                <a:solidFill>
                  <a:srgbClr val="606C80"/>
                </a:solidFill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