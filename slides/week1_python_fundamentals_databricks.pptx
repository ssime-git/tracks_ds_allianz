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Bienvenue à la formation. 7 jours, fil rouge unique : un assistant d'audit paie DSN bâti dans n8n. Aujourd'hui, jour 1 : fondations. On ne construit pas encore, on pose le cadre.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Rappel rapide : émargement matin et fin de journée, caméra ouverte si possible, posez vos questions à voix haute. Les exercices sont faits pour échouer parfois — c'est le moment.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Ce qu'on va construire à 7 jours : un workflow qui ingère un dataset DSN-like, applique des contrôles, justifie ses constats avec du RAG, et produit un rapport validé par un humain. Chaque jour ajoute une brique.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Voici la timeline. Jour 1 aujourd'hui : LLM + sécurité + premier prompt contrôlé. Le reste suit. On ne saute pas d'étape : la qualité d'audit dépend de chaque couche.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Au programme de la journée : 5 sections. On termine par un premier workflow n8n complet, simple, mais déjà audit-grade.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On entre dans la première section : cadrage. Pas de code encore — on aligne le vocabulaire et les règles du jeu.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À la fin du jour 1, vous savez ces 5 choses. Notez bien la cinquième : on doit pouvoir reproduire un résultat, sinon ce n'est pas un audit.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Les règles non négociables de la formation. Tout le dataset est fictif. Aucun NIR réel ne touche un LLM. Les logs n8n sont nettoyés. C'est la position d'auditeur, pas de hacker.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2 : LLM. On y va lentement. Vous allez utiliser ces outils pendant 7 jours — il faut comprendre ce qu'ils sont, et surtout ce qu'ils ne sont pas.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Un LLM, en une phrase : un modèle qui prédit le prochain token à partir du contexte. Ce n'est pas une base de connaissances, ce n'est pas un raisonneur déterministe. C'est un prédicteur statistique.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Quatre grandes catégories de modèles que vous croiserez. Chat pour le dialogue, instruct pour les tâches structurées, reasoning pour les chaînes complexes, embeddings pour le RAG. Pas le même outil pour le même problème.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 mot 'raisonnement' est piégeux. Un LLM ne raisonne pas comme un humain — il génère une chaîne de tokens qui ressemble à un raisonnement. Les modèles dits 'reasoning' produisent une trace explicite. Utile pour l'audit : la trace devient une preuve.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L'hallucination. Le modèle invente parce qu'il est conçu pour répondre, pas pour douter. Le cas Air Canada en 2024 a établi que l'entreprise est responsable de ce qu'invente son chatbot. Pour un audit, c'est rédhibitoire.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En audit, deux exigences non négociables. Traçabilité : on doit retrouver d'où vient chaque affirmation. Reproductibilité : la même entrée doit produire le même résultat. Le LLM tout seul échoue aux deux. C'est le workflow qui les apporte.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3 : on règle le modèle. Quatre boutons à connaître avant de cliquer sur 'Exécuter'.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La température. C'est le bouton entre déterminisme et créativité. En audit on veut le déterminisme : zéro, ou très bas. La créativité du modèle n'est pas votre alliée.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Tokens et contexte. Tout coûte. Tout a une limite. Mauvaise gestion = coupures silencieuses, prompts tronqués, réponses qui partent en vrille. À connaître pour dimensionner.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Trois autres réglages utiles. Top-p en complément de la température. Seed pour la reproductibilité. System prompt pour fixer le rôle. On les configurera dans n8n cet après-midi.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 format de sortie. JSON, pas texte libre. C'est la base d'un workflow auditable : on ne lit pas une réponse, on parse un objet. Le 'Structured Output Parser' de n8n impose ce contrat.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Tester un prompt audit-grade : 4 dimensions. Inputs limites, variations sémantiques, refus, dérive. Si une variation casse le format, le contrat n'est pas robuste.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4 : sécurité et PII. C'est la partie où on peut perdre le client, le procès, et la confiance. Donc on prend 30 minutes là-dessus.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La DSN n'est pas une donnée comme une autre. Salaires, NIR, dates d'embauche, statut santé. Article 9 RGPD pour certaines catégories. Article 8 du Code du travail. Bref : ultra-sensible.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 principe directeur : aucune DSN réelle ne touche un LLM tant que la pipeline n'est pas industrialisée et auditée. On travaille sur du fictif. C'est non négociable pour cette formation.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 masquage NIR. Règle DSN-ID-001 du corpus pédagogique : on ne sort jamais une valeur NIR vers un LLM. On la remplace par MASKED avant n'importe quelle étape IA. Évidence : le prompt ne contient que la valeur masquée.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Politique logs. n8n enregistre tout par défaut. Vous devez nettoyer : pas de PII dans les exécutions, purge périodique, accès restreint. Ce qui est dans les logs est aussi sensible que la donnée source.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Les 4 principes RGPD qui s'appliquent en première ligne. Minimisation : pas un champ de plus. Finalité : on déclare pourquoi. Conservation : avec une date de purge. Sécurité : chiffrement.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5 : l'atelier prompting. C'est ici qu'on quitte la théorie. Vous allez écrire votre premier prompt audit-grade.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Anatomie d'un prompt audit-grade. Cinq blocs : rôle, contexte, contraintes, format de sortie, comportement de refus. Si l'un manque, le prompt n'est pas réutilisable.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Les trois mots magiques : hypothèses, limites, refus. Le modèle doit dire ce qu'il suppose, ce qu'il ne sait pas, et il doit refuser quand la source manque. Un modèle qui invente, on le bloque.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 contrat JSON pour la sortie. 5 champs obligatoires pour notre cas d'aujourd'hui. Chaque champ est vérifié downstream. Le modèle ne décide pas du format, le workflow le lui impose.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Un exemple complet de prompt. À gauche : la consigne. À droite : la sortie attendue. C'est le pattern qu'on industrialise.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6 : on construit. Premier workflow n8n. Simple, mais déjà audit-grade : tracé, structuré, vérifié.</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n8n en 30 secondes. Un workflow = une chaîne d'étapes. Un node = une brique. Un item = l'objet JSON qui circule. Credentials, executions, error handling : les 3 piliers ops.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Voici notre workflow Jour 1 vu de loin. 7 nodes principaux, 2 sous-nodes (modèle + parser). Pas d'agent, pas de boucle. Une seule passe : clause → analyse → vérif.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 1 — le déclencheur manuel. Pas de webhook, pas de cron. On démarre quand on appuie sur 'Execute'. Pédagogiquement, c'est le bon choix pour comprendre où démarre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 2 — Contexte d'audit (Set). Ici on prépare la clause à analyser et le chatInput envoyé au modèle. C'est aussi ici qu'on rappelle au modèle les contraintes RGPD. Le contexte est fictif et maîtrisé.</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 3 — Analyser clause (Basic LLM Chain). Pas un Agent. Un Agent sert quand le modèle doit utiliser des outils. Ici, prompt → réponse JSON, point. Le node Basic LLM Chain est plus simple, plus contrôlable, plus auditable.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Sous-node modèle : OpenAI Gateway. On indique quel moteur on utilise (gpt-4.1-nano via la gateway Liora). Le quoi-faire est dans la Basic LLM Chain. Le avec-quoi-le-faire est ici.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Sous-node parser : Structured Output Parser. C'est lui qui impose le contrat JSON au modèle. Sans lui, le modèle peut retomber sur du texte libre. Important : activer 'Require Specific Output Format' sur le node parent.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 4 — Extraire champs (Set). On rend visibles les 5 champs un par un. Pas pour faire joli — pour que l'apprenant et l'auditeur voient ce qui circule, et pour que les nodes suivants puissent référencer chaque champ.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 5 — Sensibilité valide (If). Première règle métier automatisée : la valeur doit appartenir à un set énuméré. C'est le début de l'audit automatisé : on ne fait pas confiance, on vérifie.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Nodes 6 et 7 — Résultat OK / Erreur format. Deux issues claires : le workflow marque le succès, ou il explique l'échec. On ne masque pas l'erreur — c'est la preuve que la chaîne fonctionne.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À tester ensemble : 4 clauses. Les 3 premières doivent passer. La quatrième est volontairement floue : on observe que le modèle pose des questions de contrôle au lieu d'inventer. C'est le comportement qu'on veut.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7 : un arbre de décision important. Quand on a un problème métier, on a 3 outils possibles. Choisir le bon évite des semaines de travail inutile.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L'arbre. Question 1 : la connaissance est-elle dans le LLM ? Question 2 : la connaissance est-elle dans une doc ? Question 3 : faut-il modifier le comportement profond du modèle ? Une seule question à la fois.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Quand le prompt suffit. La tâche est bien décrite, la connaissance est généraliste, on accepte du peaufinage. 90% des cas en audit démarrent ici.</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Quand le RAG est nécessaire. La connaissance est dans des documents (URSSAF, Agirc-Arrco, notes internes). Le LLM ne les connaît pas. Le RAG les lui injecte. Jour 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Quand le fine-tuning. Rarement. Pour modifier le style, le format, ou des patterns très spécifiques. Coûteux, fragile, à maintenir. À éviter en formation, à envisager en production très ciblée.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Section 8 : on récapitule. Ce qu'il faut emporter du Jour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Les 5 livrables du jour. Cochez ce que vous avez fait. Si un point manque, c'est ce qu'on revoit avant de partir.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ea typeface="Inter"/>
                <a:latin typeface="Inter"/>
              </a:rPr>
              <a:t>Demain : Jour 2. On entre dans le dataset DSN-like. 200 à 500 lignes, 10 contrôles à formaliser, dictionnaire de données, modèle d'exception. Préparez vos questions sur les contrôles paie que vous voyez en 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497330"/>
            <a:ext cx="7315200" cy="320040"/>
          </a:xfrm>
          <a:prstGeom prst="rect">
            <a:avLst/>
          </a:prstGeom>
          <a:noFill/>
        </p:spPr>
        <p:txBody>
          <a:bodyPr wrap="square">
            <a:spAutoFit/>
          </a:bodyPr>
          <a:lstStyle/>
          <a:p>
            <a:pPr algn="l">
              <a:spcBef>
                <a:spcPts val="0"/>
              </a:spcBef>
              <a:spcAft>
                <a:spcPts val="200"/>
              </a:spcAft>
            </a:pPr>
            <a:r>
              <a:rPr sz="1400" b="1" i="0">
                <a:ea typeface="Inter"/>
                <a:solidFill>
                  <a:srgbClr val="FF6745"/>
                </a:solidFill>
                <a:latin typeface="Inter"/>
              </a:rPr>
              <a:t>Formation · Data Scientist Track</a:t>
            </a:r>
          </a:p>
        </p:txBody>
      </p:sp>
      <p:sp>
        <p:nvSpPr>
          <p:cNvPr id="3" name="TextBox 2"/>
          <p:cNvSpPr txBox="1"/>
          <p:nvPr/>
        </p:nvSpPr>
        <p:spPr>
          <a:xfrm>
            <a:off x="914400" y="1908810"/>
            <a:ext cx="7315200" cy="502920"/>
          </a:xfrm>
          <a:prstGeom prst="rect">
            <a:avLst/>
          </a:prstGeom>
          <a:noFill/>
        </p:spPr>
        <p:txBody>
          <a:bodyPr wrap="square">
            <a:spAutoFit/>
          </a:bodyPr>
          <a:lstStyle/>
          <a:p>
            <a:pPr algn="l">
              <a:spcBef>
                <a:spcPts val="0"/>
              </a:spcBef>
              <a:spcAft>
                <a:spcPts val="200"/>
              </a:spcAft>
            </a:pPr>
            <a:r>
              <a:rPr sz="3800" b="1" i="0">
                <a:ea typeface="Work Sans"/>
                <a:solidFill>
                  <a:srgbClr val="FFFFFF"/>
                </a:solidFill>
                <a:latin typeface="Work Sans"/>
              </a:rPr>
              <a:t>Python</a:t>
            </a:r>
          </a:p>
        </p:txBody>
      </p:sp>
      <p:sp>
        <p:nvSpPr>
          <p:cNvPr id="4" name="TextBox 3"/>
          <p:cNvSpPr txBox="1"/>
          <p:nvPr/>
        </p:nvSpPr>
        <p:spPr>
          <a:xfrm>
            <a:off x="914400" y="2411730"/>
            <a:ext cx="7315200" cy="502920"/>
          </a:xfrm>
          <a:prstGeom prst="rect">
            <a:avLst/>
          </a:prstGeom>
          <a:noFill/>
        </p:spPr>
        <p:txBody>
          <a:bodyPr wrap="square">
            <a:spAutoFit/>
          </a:bodyPr>
          <a:lstStyle/>
          <a:p>
            <a:pPr algn="l">
              <a:spcBef>
                <a:spcPts val="0"/>
              </a:spcBef>
              <a:spcAft>
                <a:spcPts val="200"/>
              </a:spcAft>
            </a:pPr>
            <a:r>
              <a:rPr sz="3800" b="1" i="0">
                <a:ea typeface="Work Sans"/>
                <a:solidFill>
                  <a:srgbClr val="FFFFFF"/>
                </a:solidFill>
                <a:latin typeface="Work Sans"/>
              </a:rPr>
              <a:t>Fundamentals</a:t>
            </a:r>
          </a:p>
        </p:txBody>
      </p:sp>
      <p:sp>
        <p:nvSpPr>
          <p:cNvPr id="5" name="TextBox 4"/>
          <p:cNvSpPr txBox="1"/>
          <p:nvPr/>
        </p:nvSpPr>
        <p:spPr>
          <a:xfrm>
            <a:off x="914400" y="2914650"/>
            <a:ext cx="7315200" cy="502920"/>
          </a:xfrm>
          <a:prstGeom prst="rect">
            <a:avLst/>
          </a:prstGeom>
          <a:noFill/>
        </p:spPr>
        <p:txBody>
          <a:bodyPr wrap="square">
            <a:spAutoFit/>
          </a:bodyPr>
          <a:lstStyle/>
          <a:p>
            <a:pPr algn="l">
              <a:spcBef>
                <a:spcPts val="0"/>
              </a:spcBef>
              <a:spcAft>
                <a:spcPts val="200"/>
              </a:spcAft>
            </a:pPr>
            <a:r>
              <a:rPr sz="3800" b="1" i="0">
                <a:ea typeface="Work Sans"/>
                <a:solidFill>
                  <a:srgbClr val="FFFFFF"/>
                </a:solidFill>
                <a:latin typeface="Work Sans"/>
              </a:rPr>
              <a:t>in Azure Databricks.</a:t>
            </a:r>
          </a:p>
        </p:txBody>
      </p:sp>
      <p:sp>
        <p:nvSpPr>
          <p:cNvPr id="6" name="TextBox 5"/>
          <p:cNvSpPr txBox="1"/>
          <p:nvPr/>
        </p:nvSpPr>
        <p:spPr>
          <a:xfrm>
            <a:off x="914400" y="3509010"/>
            <a:ext cx="7315200" cy="320040"/>
          </a:xfrm>
          <a:prstGeom prst="rect">
            <a:avLst/>
          </a:prstGeom>
          <a:noFill/>
        </p:spPr>
        <p:txBody>
          <a:bodyPr wrap="square">
            <a:spAutoFit/>
          </a:bodyPr>
          <a:lstStyle/>
          <a:p>
            <a:pPr algn="l">
              <a:spcBef>
                <a:spcPts val="0"/>
              </a:spcBef>
              <a:spcAft>
                <a:spcPts val="200"/>
              </a:spcAft>
            </a:pPr>
            <a:r>
              <a:rPr sz="1300" b="0" i="0">
                <a:ea typeface="Inter"/>
                <a:solidFill>
                  <a:srgbClr val="8A8A99"/>
                </a:solidFill>
                <a:latin typeface="Inter"/>
              </a:rPr>
              <a:t>SAS vers Python, pandas, Spark et SQL</a:t>
            </a:r>
          </a:p>
        </p:txBody>
      </p:sp>
      <p:sp>
        <p:nvSpPr>
          <p:cNvPr id="7" name="TextBox 6"/>
          <p:cNvSpPr txBox="1"/>
          <p:nvPr/>
        </p:nvSpPr>
        <p:spPr>
          <a:xfrm>
            <a:off x="914400" y="3829050"/>
            <a:ext cx="7315200" cy="274320"/>
          </a:xfrm>
          <a:prstGeom prst="rect">
            <a:avLst/>
          </a:prstGeom>
          <a:noFill/>
        </p:spPr>
        <p:txBody>
          <a:bodyPr wrap="square">
            <a:spAutoFit/>
          </a:bodyPr>
          <a:lstStyle/>
          <a:p>
            <a:pPr algn="l">
              <a:spcBef>
                <a:spcPts val="0"/>
              </a:spcBef>
              <a:spcAft>
                <a:spcPts val="200"/>
              </a:spcAft>
            </a:pPr>
            <a:r>
              <a:rPr sz="1100" b="0" i="0">
                <a:ea typeface="Inter"/>
                <a:solidFill>
                  <a:srgbClr val="FF6745"/>
                </a:solidFill>
                <a:latin typeface="Inter"/>
              </a:rPr>
              <a:t>Week 01 / 06</a:t>
            </a:r>
          </a:p>
        </p:txBody>
      </p:sp>
      <p:sp>
        <p:nvSpPr>
          <p:cNvPr id="8" name="Rectangle 7"/>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Week 1 · Databricks</a:t>
            </a:r>
          </a:p>
        </p:txBody>
      </p:sp>
      <p:sp>
        <p:nvSpPr>
          <p:cNvPr id="9" name="TextBox 8"/>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01</a:t>
            </a:r>
          </a:p>
        </p:txBody>
      </p:sp>
      <p:sp>
        <p:nvSpPr>
          <p:cNvPr id="10" name="TextBox 9"/>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Avant de commencer</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Cadre de la semaine 1</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Posture</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Analyste, pas développeur</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On apprend à lire, exécuter et adapter du code analytique simple.</a:t>
            </a:r>
          </a:p>
        </p:txBody>
      </p:sp>
      <p:sp>
        <p:nvSpPr>
          <p:cNvPr id="7" name="TextBox 6"/>
          <p:cNvSpPr txBox="1"/>
          <p:nvPr/>
        </p:nvSpPr>
        <p:spPr>
          <a:xfrm>
            <a:off x="685800" y="163677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Progression</a:t>
            </a:r>
          </a:p>
        </p:txBody>
      </p:sp>
      <p:sp>
        <p:nvSpPr>
          <p:cNvPr id="8" name="TextBox 7"/>
          <p:cNvSpPr txBox="1"/>
          <p:nvPr/>
        </p:nvSpPr>
        <p:spPr>
          <a:xfrm>
            <a:off x="685800" y="1801367"/>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Très guidée</a:t>
            </a:r>
          </a:p>
        </p:txBody>
      </p:sp>
      <p:sp>
        <p:nvSpPr>
          <p:cNvPr id="9" name="TextBox 8"/>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Aucun exercice page blanche. On modifie du code existant.</a:t>
            </a:r>
          </a:p>
        </p:txBody>
      </p:sp>
      <p:sp>
        <p:nvSpPr>
          <p:cNvPr id="10" name="TextBox 9"/>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Échanges</a:t>
            </a:r>
          </a:p>
        </p:txBody>
      </p:sp>
      <p:sp>
        <p:nvSpPr>
          <p:cNvPr id="11" name="TextBox 10"/>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Questions à tout moment</a:t>
            </a:r>
          </a:p>
        </p:txBody>
      </p:sp>
      <p:sp>
        <p:nvSpPr>
          <p:cNvPr id="12" name="TextBox 11"/>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On relie chaque geste au vocabulaire SAS connu.</a:t>
            </a:r>
          </a:p>
        </p:txBody>
      </p:sp>
      <p:sp>
        <p:nvSpPr>
          <p:cNvPr id="13" name="TextBox 12"/>
          <p:cNvSpPr txBox="1"/>
          <p:nvPr/>
        </p:nvSpPr>
        <p:spPr>
          <a:xfrm>
            <a:off x="685800" y="27340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Données</a:t>
            </a:r>
          </a:p>
        </p:txBody>
      </p:sp>
      <p:sp>
        <p:nvSpPr>
          <p:cNvPr id="14" name="TextBox 13"/>
          <p:cNvSpPr txBox="1"/>
          <p:nvPr/>
        </p:nvSpPr>
        <p:spPr>
          <a:xfrm>
            <a:off x="685800" y="28986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Dataset pédagogique</a:t>
            </a:r>
          </a:p>
        </p:txBody>
      </p:sp>
      <p:sp>
        <p:nvSpPr>
          <p:cNvPr id="15" name="TextBox 14"/>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Fichier insurance.csv: âge, BMI, fumeur, région, charges.</a:t>
            </a:r>
          </a:p>
        </p:txBody>
      </p:sp>
      <p:sp>
        <p:nvSpPr>
          <p:cNvPr id="16" name="Rectangle 1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7" name="TextBox 1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8" name="TextBox 1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Cas fil rouge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Analyser les coûts médicaux avec Databricks.</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À la fin de la semaine 1, vous aurez exécuté un workflow complet :</a:t>
            </a:r>
          </a:p>
        </p:txBody>
      </p:sp>
      <p:sp>
        <p:nvSpPr>
          <p:cNvPr id="5" name="TextBox 4"/>
          <p:cNvSpPr txBox="1"/>
          <p:nvPr/>
        </p:nvSpPr>
        <p:spPr>
          <a:xfrm>
            <a:off x="685800" y="136245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Charger → un CSV insurance dans Databricks.</a:t>
            </a:r>
          </a:p>
        </p:txBody>
      </p:sp>
      <p:sp>
        <p:nvSpPr>
          <p:cNvPr id="6" name="TextBox 5"/>
          <p:cNvSpPr txBox="1"/>
          <p:nvPr/>
        </p:nvSpPr>
        <p:spPr>
          <a:xfrm>
            <a:off x="685800" y="160020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Explorer → lignes, colonnes, types et statistiques.</a:t>
            </a:r>
          </a:p>
        </p:txBody>
      </p:sp>
      <p:sp>
        <p:nvSpPr>
          <p:cNvPr id="7" name="TextBox 6"/>
          <p:cNvSpPr txBox="1"/>
          <p:nvPr/>
        </p:nvSpPr>
        <p:spPr>
          <a:xfrm>
            <a:off x="685800" y="1837943"/>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Transformer → filtrer, sélectionner, agréger.</a:t>
            </a:r>
          </a:p>
        </p:txBody>
      </p:sp>
      <p:sp>
        <p:nvSpPr>
          <p:cNvPr id="8" name="TextBox 7"/>
          <p:cNvSpPr txBox="1"/>
          <p:nvPr/>
        </p:nvSpPr>
        <p:spPr>
          <a:xfrm>
            <a:off x="685800" y="2075687"/>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Comparer → pandas, Spark et SQL sur la même question.</a:t>
            </a:r>
          </a:p>
        </p:txBody>
      </p:sp>
      <p:sp>
        <p:nvSpPr>
          <p:cNvPr id="9" name="TextBox 8"/>
          <p:cNvSpPr txBox="1"/>
          <p:nvPr/>
        </p:nvSpPr>
        <p:spPr>
          <a:xfrm>
            <a:off x="685800" y="2313431"/>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[Input] insurance.csv</a:t>
            </a:r>
          </a:p>
        </p:txBody>
      </p:sp>
      <p:sp>
        <p:nvSpPr>
          <p:cNvPr id="10" name="TextBox 9"/>
          <p:cNvSpPr txBox="1"/>
          <p:nvPr/>
        </p:nvSpPr>
        <p:spPr>
          <a:xfrm>
            <a:off x="685800" y="2514599"/>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[Notebook] Python + Markdown</a:t>
            </a:r>
          </a:p>
        </p:txBody>
      </p:sp>
      <p:sp>
        <p:nvSpPr>
          <p:cNvPr id="11" name="TextBox 10"/>
          <p:cNvSpPr txBox="1"/>
          <p:nvPr/>
        </p:nvSpPr>
        <p:spPr>
          <a:xfrm>
            <a:off x="685800" y="2715768"/>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[DataFrame] pandas puis Spark</a:t>
            </a:r>
          </a:p>
        </p:txBody>
      </p:sp>
      <p:sp>
        <p:nvSpPr>
          <p:cNvPr id="12" name="TextBox 11"/>
          <p:cNvSpPr txBox="1"/>
          <p:nvPr/>
        </p:nvSpPr>
        <p:spPr>
          <a:xfrm>
            <a:off x="685800" y="291693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[SQL] Requêtes analytiques</a:t>
            </a:r>
          </a:p>
        </p:txBody>
      </p:sp>
      <p:sp>
        <p:nvSpPr>
          <p:cNvPr id="13" name="TextBox 12"/>
          <p:cNvSpPr txBox="1"/>
          <p:nvPr/>
        </p:nvSpPr>
        <p:spPr>
          <a:xfrm>
            <a:off x="685800" y="3118104"/>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[Output] Segment de coût élevé</a:t>
            </a:r>
          </a:p>
        </p:txBody>
      </p:sp>
      <p:sp>
        <p:nvSpPr>
          <p:cNvPr id="14" name="Rectangle 13"/>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5" name="TextBox 14"/>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6" name="TextBox 15"/>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Programme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Une brique par séquence, un notebook par geste clé.</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Chaque séquence démarre par une démonstration lente, puis un exercice guidé transposable.</a:t>
            </a:r>
          </a:p>
        </p:txBody>
      </p:sp>
      <p:sp>
        <p:nvSpPr>
          <p:cNvPr id="5" name="TextBox 4"/>
          <p:cNvSpPr txBox="1"/>
          <p:nvPr/>
        </p:nvSpPr>
        <p:spPr>
          <a:xfrm>
            <a:off x="685800" y="136245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Chaque séquence démarre par une démonstration lente, puis un exercice guidé transposable.</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Programme</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04</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Au programme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Sommaire de la session live</a:t>
            </a:r>
          </a:p>
        </p:txBody>
      </p:sp>
      <p:sp>
        <p:nvSpPr>
          <p:cNvPr id="4" name="TextBox 3"/>
          <p:cNvSpPr txBox="1"/>
          <p:nvPr/>
        </p:nvSpPr>
        <p:spPr>
          <a:xfrm>
            <a:off x="685800" y="108813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01 · Databricks → workspace, cluster, notebook — 35 min</a:t>
            </a:r>
          </a:p>
        </p:txBody>
      </p:sp>
      <p:sp>
        <p:nvSpPr>
          <p:cNvPr id="5" name="TextBox 4"/>
          <p:cNvSpPr txBox="1"/>
          <p:nvPr/>
        </p:nvSpPr>
        <p:spPr>
          <a:xfrm>
            <a:off x="685800" y="132588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02 · Python basics → variables, types, listes, fonctions — 45 min</a:t>
            </a:r>
          </a:p>
        </p:txBody>
      </p:sp>
      <p:sp>
        <p:nvSpPr>
          <p:cNvPr id="6" name="TextBox 5"/>
          <p:cNvSpPr txBox="1"/>
          <p:nvPr/>
        </p:nvSpPr>
        <p:spPr>
          <a:xfrm>
            <a:off x="685800" y="1563624"/>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03 · Lire du code → indentation, conditions, erreurs fréquentes — 25 min</a:t>
            </a:r>
          </a:p>
        </p:txBody>
      </p:sp>
      <p:sp>
        <p:nvSpPr>
          <p:cNvPr id="7" name="TextBox 6"/>
          <p:cNvSpPr txBox="1"/>
          <p:nvPr/>
        </p:nvSpPr>
        <p:spPr>
          <a:xfrm>
            <a:off x="685800" y="1801368"/>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04 · pandas → charger, explorer, filtrer, grouper — 55 min</a:t>
            </a:r>
          </a:p>
        </p:txBody>
      </p:sp>
      <p:sp>
        <p:nvSpPr>
          <p:cNvPr id="8" name="TextBox 7"/>
          <p:cNvSpPr txBox="1"/>
          <p:nvPr/>
        </p:nvSpPr>
        <p:spPr>
          <a:xfrm>
            <a:off x="685800" y="2039112"/>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05 · Spark → DataFrame, select, filter, groupBy — 30 min</a:t>
            </a:r>
          </a:p>
        </p:txBody>
      </p:sp>
      <p:sp>
        <p:nvSpPr>
          <p:cNvPr id="9" name="TextBox 8"/>
          <p:cNvSpPr txBox="1"/>
          <p:nvPr/>
        </p:nvSpPr>
        <p:spPr>
          <a:xfrm>
            <a:off x="685800" y="227685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06 · SQL → cellules SQL, COUNT, AVG, GROUP BY — 35 min</a:t>
            </a:r>
          </a:p>
        </p:txBody>
      </p:sp>
      <p:sp>
        <p:nvSpPr>
          <p:cNvPr id="10" name="TextBox 9"/>
          <p:cNvSpPr txBox="1"/>
          <p:nvPr/>
        </p:nvSpPr>
        <p:spPr>
          <a:xfrm>
            <a:off x="685800" y="251460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07 · Mini challenge → segment le plus coûteux — 25 min</a:t>
            </a:r>
          </a:p>
        </p:txBody>
      </p:sp>
      <p:sp>
        <p:nvSpPr>
          <p:cNvPr id="11" name="TextBox 10"/>
          <p:cNvSpPr txBox="1"/>
          <p:nvPr/>
        </p:nvSpPr>
        <p:spPr>
          <a:xfrm>
            <a:off x="685800" y="2752344"/>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08 · Synthèse → checklist Databricks et SAS mapping — 15 min</a:t>
            </a:r>
          </a:p>
        </p:txBody>
      </p:sp>
      <p:sp>
        <p:nvSpPr>
          <p:cNvPr id="12" name="Rectangle 11"/>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Sommaire</a:t>
            </a:r>
          </a:p>
        </p:txBody>
      </p:sp>
      <p:sp>
        <p:nvSpPr>
          <p:cNvPr id="13" name="TextBox 12"/>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05</a:t>
            </a:r>
          </a:p>
        </p:txBody>
      </p:sp>
      <p:sp>
        <p:nvSpPr>
          <p:cNvPr id="14" name="TextBox 13"/>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01</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01 · 35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Découvrir Databricks.</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On apprend à se repérer avant d'écrire du code.</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06 Section 01 — Databricks</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Databricks</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À la fin de la section, vous savez…</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Ouvrir un notebook</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Retrouver un support dans /Shared/training et lire les cellules.</a:t>
            </a:r>
          </a:p>
        </p:txBody>
      </p:sp>
      <p:sp>
        <p:nvSpPr>
          <p:cNvPr id="7" name="TextBox 6"/>
          <p:cNvSpPr txBox="1"/>
          <p:nvPr/>
        </p:nvSpPr>
        <p:spPr>
          <a:xfrm>
            <a:off x="685800" y="163677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a:t>
            </a:r>
          </a:p>
        </p:txBody>
      </p:sp>
      <p:sp>
        <p:nvSpPr>
          <p:cNvPr id="8" name="TextBox 7"/>
          <p:cNvSpPr txBox="1"/>
          <p:nvPr/>
        </p:nvSpPr>
        <p:spPr>
          <a:xfrm>
            <a:off x="685800" y="1801367"/>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Attacher un cluster</a:t>
            </a:r>
          </a:p>
        </p:txBody>
      </p:sp>
      <p:sp>
        <p:nvSpPr>
          <p:cNvPr id="9" name="TextBox 8"/>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Comprendre pourquoi le notebook a besoin d'un compute.</a:t>
            </a:r>
          </a:p>
        </p:txBody>
      </p:sp>
      <p:sp>
        <p:nvSpPr>
          <p:cNvPr id="10" name="TextBox 9"/>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a:t>
            </a:r>
          </a:p>
        </p:txBody>
      </p:sp>
      <p:sp>
        <p:nvSpPr>
          <p:cNvPr id="11" name="TextBox 10"/>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Exécuter une cellule</a:t>
            </a:r>
          </a:p>
        </p:txBody>
      </p:sp>
      <p:sp>
        <p:nvSpPr>
          <p:cNvPr id="12" name="TextBox 11"/>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Lancer du Markdown, du Python ou du SQL et lire le résultat.</a:t>
            </a:r>
          </a:p>
        </p:txBody>
      </p:sp>
      <p:sp>
        <p:nvSpPr>
          <p:cNvPr id="13" name="TextBox 12"/>
          <p:cNvSpPr txBox="1"/>
          <p:nvPr/>
        </p:nvSpPr>
        <p:spPr>
          <a:xfrm>
            <a:off x="685800" y="27340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a:t>
            </a:r>
          </a:p>
        </p:txBody>
      </p:sp>
      <p:sp>
        <p:nvSpPr>
          <p:cNvPr id="14" name="TextBox 13"/>
          <p:cNvSpPr txBox="1"/>
          <p:nvPr/>
        </p:nvSpPr>
        <p:spPr>
          <a:xfrm>
            <a:off x="685800" y="28986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Repérer la donnée</a:t>
            </a:r>
          </a:p>
        </p:txBody>
      </p:sp>
      <p:sp>
        <p:nvSpPr>
          <p:cNvPr id="15" name="TextBox 14"/>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Comprendre le chemin FileStore utilisé par pandas et Spark.</a:t>
            </a:r>
          </a:p>
        </p:txBody>
      </p:sp>
      <p:sp>
        <p:nvSpPr>
          <p:cNvPr id="16" name="TextBox 15"/>
          <p:cNvSpPr txBox="1"/>
          <p:nvPr/>
        </p:nvSpPr>
        <p:spPr>
          <a:xfrm>
            <a:off x="685800" y="328269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a:t>
            </a:r>
          </a:p>
        </p:txBody>
      </p:sp>
      <p:sp>
        <p:nvSpPr>
          <p:cNvPr id="17" name="TextBox 16"/>
          <p:cNvSpPr txBox="1"/>
          <p:nvPr/>
        </p:nvSpPr>
        <p:spPr>
          <a:xfrm>
            <a:off x="685800" y="34472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Faire le lien SAS</a:t>
            </a:r>
          </a:p>
        </p:txBody>
      </p:sp>
      <p:sp>
        <p:nvSpPr>
          <p:cNvPr id="18" name="TextBox 17"/>
          <p:cNvSpPr txBox="1"/>
          <p:nvPr/>
        </p:nvSpPr>
        <p:spPr>
          <a:xfrm>
            <a:off x="685800" y="36484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Programme SAS, DATA step, PROC SQL deviennent notebook, DataFrame, SQL.</a:t>
            </a:r>
          </a:p>
        </p:txBody>
      </p:sp>
      <p:sp>
        <p:nvSpPr>
          <p:cNvPr id="19" name="Rectangle 18"/>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20" name="TextBox 19"/>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1" name="TextBox 20"/>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Databricks</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Les 4 règles de confort</a:t>
            </a:r>
          </a:p>
        </p:txBody>
      </p:sp>
      <p:sp>
        <p:nvSpPr>
          <p:cNvPr id="4" name="TextBox 3"/>
          <p:cNvSpPr txBox="1"/>
          <p:nvPr/>
        </p:nvSpPr>
        <p:spPr>
          <a:xfrm>
            <a:off x="685800" y="108813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TABLEAU :</a:t>
            </a:r>
          </a:p>
        </p:txBody>
      </p:sp>
      <p:sp>
        <p:nvSpPr>
          <p:cNvPr id="5" name="TextBox 4"/>
          <p:cNvSpPr txBox="1"/>
          <p:nvPr/>
        </p:nvSpPr>
        <p:spPr>
          <a:xfrm>
            <a:off x="685800" y="127101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Règle  Pourquoi  Équivalent SAS</a:t>
            </a:r>
          </a:p>
        </p:txBody>
      </p:sp>
      <p:sp>
        <p:nvSpPr>
          <p:cNvPr id="6" name="TextBox 5"/>
          <p:cNvSpPr txBox="1"/>
          <p:nvPr/>
        </p:nvSpPr>
        <p:spPr>
          <a:xfrm>
            <a:off x="685800" y="147218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Toujours vérifier le cluster  Sans cluster attaché, la cellule ne s'exécute pas.  Session SAS disponible</a:t>
            </a:r>
          </a:p>
        </p:txBody>
      </p:sp>
      <p:sp>
        <p:nvSpPr>
          <p:cNvPr id="7" name="TextBox 6"/>
          <p:cNvSpPr txBox="1"/>
          <p:nvPr/>
        </p:nvSpPr>
        <p:spPr>
          <a:xfrm>
            <a:off x="685800" y="1673351"/>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Exécuter dans l'ordre  Une variable créée plus bas n'existe pas encore.  Ordre des étapes DATA/PROC</a:t>
            </a:r>
          </a:p>
        </p:txBody>
      </p:sp>
      <p:sp>
        <p:nvSpPr>
          <p:cNvPr id="8" name="TextBox 7"/>
          <p:cNvSpPr txBox="1"/>
          <p:nvPr/>
        </p:nvSpPr>
        <p:spPr>
          <a:xfrm>
            <a:off x="685800" y="1874519"/>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Lire le résultat de cellule  Databricks affiche la sortie juste sous le code.  Log + output SAS</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Sauver dans le dossier partagé  Les notebooks doivent être retrouvables par le groupe.  Bibliothèque partagée</a:t>
            </a:r>
          </a:p>
        </p:txBody>
      </p:sp>
      <p:sp>
        <p:nvSpPr>
          <p:cNvPr id="10" name="Rectangle 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01 · Databricks</a:t>
            </a:r>
          </a:p>
        </p:txBody>
      </p:sp>
      <p:sp>
        <p:nvSpPr>
          <p:cNvPr id="11" name="TextBox 1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08</a:t>
            </a:r>
          </a:p>
        </p:txBody>
      </p:sp>
      <p:sp>
        <p:nvSpPr>
          <p:cNvPr id="12" name="TextBox 1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02</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02 · 45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Python,fondamentaux.</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Des bases suffisantes pour lire et modifier des notebooks analytiques.</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09 Section 02 — Python</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09</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Python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Une variable, en une phrase.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 nom qui pointe vers une valeur réutilisable.</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Pas une colonne de table. Pas une macro SAS. Un objet simple en mémoire.</a:t>
            </a:r>
          </a:p>
        </p:txBody>
      </p:sp>
      <p:sp>
        <p:nvSpPr>
          <p:cNvPr id="6" name="TextBox 5"/>
          <p:cNvSpPr txBox="1"/>
          <p:nvPr/>
        </p:nvSpPr>
        <p:spPr>
          <a:xfrm>
            <a:off x="685800" y="163677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Excellent pour stocker un seuil, une modalité, un chemin de fichier.</a:t>
            </a:r>
          </a:p>
        </p:txBody>
      </p:sp>
      <p:sp>
        <p:nvSpPr>
          <p:cNvPr id="7" name="TextBox 6"/>
          <p:cNvSpPr txBox="1"/>
          <p:nvPr/>
        </p:nvSpPr>
        <p:spPr>
          <a:xfrm>
            <a:off x="685800" y="1911095"/>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À éviter pour représenter une table complète.</a:t>
            </a:r>
          </a:p>
        </p:txBody>
      </p:sp>
      <p:sp>
        <p:nvSpPr>
          <p:cNvPr id="8" name="TextBox 7"/>
          <p:cNvSpPr txBox="1"/>
          <p:nvPr/>
        </p:nvSpPr>
        <p:spPr>
          <a:xfrm>
            <a:off x="685800" y="2185415"/>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On lit d'abord le nom, puis la valeur affectée après le signe égal.</a:t>
            </a:r>
          </a:p>
        </p:txBody>
      </p:sp>
      <p:sp>
        <p:nvSpPr>
          <p:cNvPr id="9" name="TextBox 8"/>
          <p:cNvSpPr txBox="1"/>
          <p:nvPr/>
        </p:nvSpPr>
        <p:spPr>
          <a:xfrm>
            <a:off x="685800" y="2459735"/>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age = 45
region = "southwest"
premium = 1200.50</a:t>
            </a:r>
          </a:p>
        </p:txBody>
      </p:sp>
      <p:sp>
        <p:nvSpPr>
          <p:cNvPr id="10" name="TextBox 9"/>
          <p:cNvSpPr txBox="1"/>
          <p:nvPr/>
        </p:nvSpPr>
        <p:spPr>
          <a:xfrm>
            <a:off x="685800" y="2697479"/>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On lit d'abord le nom, puis la valeur affectée après le signe égal.</a:t>
            </a:r>
          </a:p>
        </p:txBody>
      </p:sp>
      <p:sp>
        <p:nvSpPr>
          <p:cNvPr id="11" name="Rectangle 1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02 · Python</a:t>
            </a:r>
          </a:p>
        </p:txBody>
      </p:sp>
      <p:sp>
        <p:nvSpPr>
          <p:cNvPr id="12" name="TextBox 1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10</a:t>
            </a:r>
          </a:p>
        </p:txBody>
      </p:sp>
      <p:sp>
        <p:nvSpPr>
          <p:cNvPr id="13" name="TextBox 1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Python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4 types à reconnaître</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Type 1 · int</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Entier</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45, 64, 0. Sert aux âges, compteurs, nombres d'enfants.</a:t>
            </a:r>
          </a:p>
        </p:txBody>
      </p:sp>
      <p:sp>
        <p:nvSpPr>
          <p:cNvPr id="7" name="TextBox 6"/>
          <p:cNvSpPr txBox="1"/>
          <p:nvPr/>
        </p:nvSpPr>
        <p:spPr>
          <a:xfrm>
            <a:off x="685800" y="163677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Calculs simples</a:t>
            </a:r>
          </a:p>
        </p:txBody>
      </p:sp>
      <p:sp>
        <p:nvSpPr>
          <p:cNvPr id="8" name="TextBox 7"/>
          <p:cNvSpPr txBox="1"/>
          <p:nvPr/>
        </p:nvSpPr>
        <p:spPr>
          <a:xfrm>
            <a:off x="685800" y="181965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Type 2 · float</a:t>
            </a:r>
          </a:p>
        </p:txBody>
      </p:sp>
      <p:sp>
        <p:nvSpPr>
          <p:cNvPr id="9" name="TextBox 8"/>
          <p:cNvSpPr txBox="1"/>
          <p:nvPr/>
        </p:nvSpPr>
        <p:spPr>
          <a:xfrm>
            <a:off x="685800" y="19842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Décimal</a:t>
            </a:r>
          </a:p>
        </p:txBody>
      </p:sp>
      <p:sp>
        <p:nvSpPr>
          <p:cNvPr id="10" name="TextBox 9"/>
          <p:cNvSpPr txBox="1"/>
          <p:nvPr/>
        </p:nvSpPr>
        <p:spPr>
          <a:xfrm>
            <a:off x="685800" y="21854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27.5, 1200.50. Sert au BMI, aux montants, aux moyennes.</a:t>
            </a:r>
          </a:p>
        </p:txBody>
      </p:sp>
      <p:sp>
        <p:nvSpPr>
          <p:cNvPr id="11" name="TextBox 10"/>
          <p:cNvSpPr txBox="1"/>
          <p:nvPr/>
        </p:nvSpPr>
        <p:spPr>
          <a:xfrm>
            <a:off x="685800" y="23682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Analyse</a:t>
            </a:r>
          </a:p>
        </p:txBody>
      </p:sp>
      <p:sp>
        <p:nvSpPr>
          <p:cNvPr id="12" name="TextBox 11"/>
          <p:cNvSpPr txBox="1"/>
          <p:nvPr/>
        </p:nvSpPr>
        <p:spPr>
          <a:xfrm>
            <a:off x="685800" y="25511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Type 3 · str</a:t>
            </a:r>
          </a:p>
        </p:txBody>
      </p:sp>
      <p:sp>
        <p:nvSpPr>
          <p:cNvPr id="13" name="TextBox 12"/>
          <p:cNvSpPr txBox="1"/>
          <p:nvPr/>
        </p:nvSpPr>
        <p:spPr>
          <a:xfrm>
            <a:off x="685800" y="27157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Texte</a:t>
            </a:r>
          </a:p>
        </p:txBody>
      </p:sp>
      <p:sp>
        <p:nvSpPr>
          <p:cNvPr id="14" name="TextBox 13"/>
          <p:cNvSpPr txBox="1"/>
          <p:nvPr/>
        </p:nvSpPr>
        <p:spPr>
          <a:xfrm>
            <a:off x="685800" y="29169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southwest, yes, female. Les guillemets indiquent une chaîne.</a:t>
            </a:r>
          </a:p>
        </p:txBody>
      </p:sp>
      <p:sp>
        <p:nvSpPr>
          <p:cNvPr id="15" name="TextBox 14"/>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Modalités</a:t>
            </a:r>
          </a:p>
        </p:txBody>
      </p:sp>
      <p:sp>
        <p:nvSpPr>
          <p:cNvPr id="16" name="TextBox 15"/>
          <p:cNvSpPr txBox="1"/>
          <p:nvPr/>
        </p:nvSpPr>
        <p:spPr>
          <a:xfrm>
            <a:off x="685800" y="328269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Type 4 · bool</a:t>
            </a:r>
          </a:p>
        </p:txBody>
      </p:sp>
      <p:sp>
        <p:nvSpPr>
          <p:cNvPr id="17" name="TextBox 16"/>
          <p:cNvSpPr txBox="1"/>
          <p:nvPr/>
        </p:nvSpPr>
        <p:spPr>
          <a:xfrm>
            <a:off x="685800" y="34472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Vrai / faux</a:t>
            </a:r>
          </a:p>
        </p:txBody>
      </p:sp>
      <p:sp>
        <p:nvSpPr>
          <p:cNvPr id="18" name="TextBox 17"/>
          <p:cNvSpPr txBox="1"/>
          <p:nvPr/>
        </p:nvSpPr>
        <p:spPr>
          <a:xfrm>
            <a:off x="685800" y="36484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True ou False. Résultat naturel d'une condition.</a:t>
            </a:r>
          </a:p>
        </p:txBody>
      </p:sp>
      <p:sp>
        <p:nvSpPr>
          <p:cNvPr id="19" name="TextBox 18"/>
          <p:cNvSpPr txBox="1"/>
          <p:nvPr/>
        </p:nvSpPr>
        <p:spPr>
          <a:xfrm>
            <a:off x="685800" y="38313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Filtrage</a:t>
            </a:r>
          </a:p>
        </p:txBody>
      </p:sp>
      <p:sp>
        <p:nvSpPr>
          <p:cNvPr id="20" name="Rectangle 1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21" name="TextBox 2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2" name="TextBox 2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Python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L'indentation — le piège utile</a:t>
            </a:r>
          </a:p>
        </p:txBody>
      </p:sp>
      <p:sp>
        <p:nvSpPr>
          <p:cNvPr id="4" name="TextBox 3"/>
          <p:cNvSpPr txBox="1"/>
          <p:nvPr/>
        </p:nvSpPr>
        <p:spPr>
          <a:xfrm>
            <a:off x="685800" y="1088136"/>
            <a:ext cx="7772400" cy="228600"/>
          </a:xfrm>
          <a:prstGeom prst="rect">
            <a:avLst/>
          </a:prstGeom>
          <a:noFill/>
        </p:spPr>
        <p:txBody>
          <a:bodyPr wrap="square">
            <a:spAutoFit/>
          </a:bodyPr>
          <a:lstStyle/>
          <a:p>
            <a:pPr algn="l">
              <a:spcBef>
                <a:spcPts val="0"/>
              </a:spcBef>
              <a:spcAft>
                <a:spcPts val="200"/>
              </a:spcAft>
            </a:pPr>
            <a:r>
              <a:rPr sz="1200" b="1" i="0">
                <a:ea typeface="Inter"/>
                <a:solidFill>
                  <a:srgbClr val="FF6745"/>
                </a:solidFill>
                <a:latin typeface="Inter"/>
              </a:rPr>
              <a:t>Pratique analytique</a:t>
            </a:r>
          </a:p>
        </p:txBody>
      </p:sp>
      <p:sp>
        <p:nvSpPr>
          <p:cNvPr id="5" name="TextBox 4"/>
          <p:cNvSpPr txBox="1"/>
          <p:nvPr/>
        </p:nvSpPr>
        <p:spPr>
          <a:xfrm>
            <a:off x="685800" y="1325880"/>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On lit la structure visuellement :</a:t>
            </a:r>
          </a:p>
        </p:txBody>
      </p:sp>
      <p:sp>
        <p:nvSpPr>
          <p:cNvPr id="6" name="TextBox 5"/>
          <p:cNvSpPr txBox="1"/>
          <p:nvPr/>
        </p:nvSpPr>
        <p:spPr>
          <a:xfrm>
            <a:off x="685800" y="1600200"/>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Mauvaise lecture — Les espaces sont décoratifs — Toutes les lignes sont au même niveau.</a:t>
            </a:r>
          </a:p>
        </p:txBody>
      </p:sp>
      <p:sp>
        <p:nvSpPr>
          <p:cNvPr id="7" name="TextBox 6"/>
          <p:cNvSpPr txBox="1"/>
          <p:nvPr/>
        </p:nvSpPr>
        <p:spPr>
          <a:xfrm>
            <a:off x="685800" y="1911095"/>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Bonne lecture — Les lignes décalées appartiennent au bloc — La condition contrôle seulement ce bloc.</a:t>
            </a:r>
          </a:p>
        </p:txBody>
      </p:sp>
      <p:sp>
        <p:nvSpPr>
          <p:cNvPr id="8" name="TextBox 7"/>
          <p:cNvSpPr txBox="1"/>
          <p:nvPr/>
        </p:nvSpPr>
        <p:spPr>
          <a:xfrm>
            <a:off x="685800" y="2221991"/>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if smoker == "yes":
    print("Smoker segment")
    print("Higher risk")</a:t>
            </a:r>
          </a:p>
        </p:txBody>
      </p:sp>
      <p:sp>
        <p:nvSpPr>
          <p:cNvPr id="9" name="TextBox 8"/>
          <p:cNvSpPr txBox="1"/>
          <p:nvPr/>
        </p:nvSpPr>
        <p:spPr>
          <a:xfrm>
            <a:off x="685800" y="2459735"/>
            <a:ext cx="7772400" cy="265176"/>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 Lire la condition</a:t>
            </a:r>
          </a:p>
        </p:txBody>
      </p:sp>
      <p:sp>
        <p:nvSpPr>
          <p:cNvPr id="10" name="TextBox 9"/>
          <p:cNvSpPr txBox="1"/>
          <p:nvPr/>
        </p:nvSpPr>
        <p:spPr>
          <a:xfrm>
            <a:off x="685800" y="2679191"/>
            <a:ext cx="7772400" cy="265176"/>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 Repérer les lignes indentées</a:t>
            </a:r>
          </a:p>
        </p:txBody>
      </p:sp>
      <p:sp>
        <p:nvSpPr>
          <p:cNvPr id="11" name="TextBox 10"/>
          <p:cNvSpPr txBox="1"/>
          <p:nvPr/>
        </p:nvSpPr>
        <p:spPr>
          <a:xfrm>
            <a:off x="685800" y="2898648"/>
            <a:ext cx="7772400" cy="265176"/>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 Vérifier ce qui s'exécute toujours</a:t>
            </a:r>
          </a:p>
        </p:txBody>
      </p:sp>
      <p:sp>
        <p:nvSpPr>
          <p:cNvPr id="12" name="TextBox 11"/>
          <p:cNvSpPr txBox="1"/>
          <p:nvPr/>
        </p:nvSpPr>
        <p:spPr>
          <a:xfrm>
            <a:off x="685800" y="3118104"/>
            <a:ext cx="7772400" cy="265176"/>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 Exécuter puis observer</a:t>
            </a:r>
          </a:p>
        </p:txBody>
      </p:sp>
      <p:sp>
        <p:nvSpPr>
          <p:cNvPr id="13" name="Rectangle 12"/>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02 · Python</a:t>
            </a:r>
          </a:p>
        </p:txBody>
      </p:sp>
      <p:sp>
        <p:nvSpPr>
          <p:cNvPr id="14" name="TextBox 13"/>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5" name="TextBox 14"/>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Python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La fonction évite de recopier une règle.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Une fonction prend une entrée et renvoie une sortie.</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Pour un analyste, c'est une petite règle métier nommée. Exemple: appliquer une taxe, calculer un coût annuel.</a:t>
            </a:r>
          </a:p>
        </p:txBody>
      </p:sp>
      <p:sp>
        <p:nvSpPr>
          <p:cNvPr id="6" name="TextBox 5"/>
          <p:cNvSpPr txBox="1"/>
          <p:nvPr/>
        </p:nvSpPr>
        <p:spPr>
          <a:xfrm>
            <a:off x="685800" y="163677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Réutilisable, testable, lisible — et beaucoup moins fragile qu'un copier-coller.</a:t>
            </a:r>
          </a:p>
        </p:txBody>
      </p:sp>
      <p:sp>
        <p:nvSpPr>
          <p:cNvPr id="7" name="TextBox 6"/>
          <p:cNvSpPr txBox="1"/>
          <p:nvPr/>
        </p:nvSpPr>
        <p:spPr>
          <a:xfrm>
            <a:off x="685800" y="1911095"/>
            <a:ext cx="7772400" cy="265176"/>
          </a:xfrm>
          <a:prstGeom prst="rect">
            <a:avLst/>
          </a:prstGeom>
          <a:noFill/>
        </p:spPr>
        <p:txBody>
          <a:bodyPr wrap="square">
            <a:spAutoFit/>
          </a:bodyPr>
          <a:lstStyle/>
          <a:p>
            <a:pPr algn="l">
              <a:spcBef>
                <a:spcPts val="0"/>
              </a:spcBef>
              <a:spcAft>
                <a:spcPts val="200"/>
              </a:spcAft>
            </a:pPr>
            <a:r>
              <a:rPr sz="1200" b="0" i="0">
                <a:ea typeface="Inter"/>
                <a:solidFill>
                  <a:srgbClr val="121228"/>
                </a:solidFill>
                <a:latin typeface="Inter"/>
              </a:rPr>
              <a:t>[Entrée] monthly_cost = 120</a:t>
            </a:r>
          </a:p>
        </p:txBody>
      </p:sp>
      <p:sp>
        <p:nvSpPr>
          <p:cNvPr id="8" name="TextBox 7"/>
          <p:cNvSpPr txBox="1"/>
          <p:nvPr/>
        </p:nvSpPr>
        <p:spPr>
          <a:xfrm>
            <a:off x="685800" y="2130552"/>
            <a:ext cx="7772400" cy="265176"/>
          </a:xfrm>
          <a:prstGeom prst="rect">
            <a:avLst/>
          </a:prstGeom>
          <a:noFill/>
        </p:spPr>
        <p:txBody>
          <a:bodyPr wrap="square">
            <a:spAutoFit/>
          </a:bodyPr>
          <a:lstStyle/>
          <a:p>
            <a:pPr algn="l">
              <a:spcBef>
                <a:spcPts val="0"/>
              </a:spcBef>
              <a:spcAft>
                <a:spcPts val="200"/>
              </a:spcAft>
            </a:pPr>
            <a:r>
              <a:rPr sz="1200" b="0" i="0">
                <a:ea typeface="Inter"/>
                <a:solidFill>
                  <a:srgbClr val="121228"/>
                </a:solidFill>
                <a:latin typeface="Inter"/>
              </a:rPr>
              <a:t>[Fonction] annual_cost(x)</a:t>
            </a:r>
          </a:p>
        </p:txBody>
      </p:sp>
      <p:sp>
        <p:nvSpPr>
          <p:cNvPr id="9" name="TextBox 8"/>
          <p:cNvSpPr txBox="1"/>
          <p:nvPr/>
        </p:nvSpPr>
        <p:spPr>
          <a:xfrm>
            <a:off x="685800" y="2350008"/>
            <a:ext cx="7772400" cy="265176"/>
          </a:xfrm>
          <a:prstGeom prst="rect">
            <a:avLst/>
          </a:prstGeom>
          <a:noFill/>
        </p:spPr>
        <p:txBody>
          <a:bodyPr wrap="square">
            <a:spAutoFit/>
          </a:bodyPr>
          <a:lstStyle/>
          <a:p>
            <a:pPr algn="l">
              <a:spcBef>
                <a:spcPts val="0"/>
              </a:spcBef>
              <a:spcAft>
                <a:spcPts val="200"/>
              </a:spcAft>
            </a:pPr>
            <a:r>
              <a:rPr sz="1200" b="0" i="0">
                <a:ea typeface="Inter"/>
                <a:solidFill>
                  <a:srgbClr val="121228"/>
                </a:solidFill>
                <a:latin typeface="Inter"/>
              </a:rPr>
              <a:t>[Sortie] 1440</a:t>
            </a:r>
          </a:p>
        </p:txBody>
      </p:sp>
      <p:sp>
        <p:nvSpPr>
          <p:cNvPr id="10" name="TextBox 9"/>
          <p:cNvSpPr txBox="1"/>
          <p:nvPr/>
        </p:nvSpPr>
        <p:spPr>
          <a:xfrm>
            <a:off x="685800" y="2569464"/>
            <a:ext cx="7772400" cy="320040"/>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EXEMPLE — def annual_cost(x): return x * 12</a:t>
            </a:r>
          </a:p>
        </p:txBody>
      </p:sp>
      <p:sp>
        <p:nvSpPr>
          <p:cNvPr id="11" name="TextBox 10"/>
          <p:cNvSpPr txBox="1"/>
          <p:nvPr/>
        </p:nvSpPr>
        <p:spPr>
          <a:xfrm>
            <a:off x="685800" y="2843784"/>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Réutilisable, testable, lisible — et beaucoup moins fragile qu'un copier-coller.</a:t>
            </a:r>
          </a:p>
        </p:txBody>
      </p:sp>
      <p:sp>
        <p:nvSpPr>
          <p:cNvPr id="12" name="Rectangle 11"/>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02 · Python</a:t>
            </a:r>
          </a:p>
        </p:txBody>
      </p:sp>
      <p:sp>
        <p:nvSpPr>
          <p:cNvPr id="13" name="TextBox 12"/>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13</a:t>
            </a:r>
          </a:p>
        </p:txBody>
      </p:sp>
      <p:sp>
        <p:nvSpPr>
          <p:cNvPr id="14" name="TextBox 13"/>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Python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Les deux exigences non négociables</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On ne cherche pas à devenir développeur. On cherche à produire une analyse fiable.</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Exigence 01</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Lisibilité</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Le code doit pouvoir être relu par un autre analyste: noms clairs, étapes courtes, commentaires utiles.</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Exigence 02</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Reproductibilité</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La même donnée et le même notebook doivent donner le même résultat, sans manipulation cachée.</a:t>
            </a:r>
          </a:p>
        </p:txBody>
      </p:sp>
      <p:sp>
        <p:nvSpPr>
          <p:cNvPr id="11" name="TextBox 10"/>
          <p:cNvSpPr txBox="1"/>
          <p:nvPr/>
        </p:nvSpPr>
        <p:spPr>
          <a:xfrm>
            <a:off x="685800" y="245973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On ne cherche pas à devenir développeur. On cherche à produire une analyse fiable.</a:t>
            </a:r>
          </a:p>
        </p:txBody>
      </p:sp>
      <p:sp>
        <p:nvSpPr>
          <p:cNvPr id="12" name="Rectangle 11"/>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02 · Python</a:t>
            </a:r>
          </a:p>
        </p:txBody>
      </p:sp>
      <p:sp>
        <p:nvSpPr>
          <p:cNvPr id="13" name="TextBox 12"/>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14</a:t>
            </a:r>
          </a:p>
        </p:txBody>
      </p:sp>
      <p:sp>
        <p:nvSpPr>
          <p:cNvPr id="14" name="TextBox 13"/>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03</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03 · 55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pandas,pour les tables.</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On retrouve le mental model SAS dataset: lignes, colonnes, transformations.</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15 Section 03 — pandas</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15</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pandas 1</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DataFrame · la table centrale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 DataFrame pandas ressemble à une table Excel ou un dataset SAS.</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La question métier ne change pas. On change seulement la syntaxe.</a:t>
            </a:r>
          </a:p>
        </p:txBody>
      </p:sp>
      <p:sp>
        <p:nvSpPr>
          <p:cNvPr id="6" name="TextBox 5"/>
          <p:cNvSpPr txBox="1"/>
          <p:nvPr/>
        </p:nvSpPr>
        <p:spPr>
          <a:xfrm>
            <a:off x="685800" y="163677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TABLEAU :</a:t>
            </a:r>
          </a:p>
        </p:txBody>
      </p:sp>
      <p:sp>
        <p:nvSpPr>
          <p:cNvPr id="7" name="TextBox 6"/>
          <p:cNvSpPr txBox="1"/>
          <p:nvPr/>
        </p:nvSpPr>
        <p:spPr>
          <a:xfrm>
            <a:off x="685800" y="181965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Objet  Rôle  Réflexe SAS</a:t>
            </a:r>
          </a:p>
        </p:txBody>
      </p:sp>
      <p:sp>
        <p:nvSpPr>
          <p:cNvPr id="8" name="TextBox 7"/>
          <p:cNvSpPr txBox="1"/>
          <p:nvPr/>
        </p:nvSpPr>
        <p:spPr>
          <a:xfrm>
            <a:off x="685800" y="202082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df  Table en mémoire  Dataset SAS</a:t>
            </a:r>
          </a:p>
        </p:txBody>
      </p:sp>
      <p:sp>
        <p:nvSpPr>
          <p:cNvPr id="9" name="TextBox 8"/>
          <p:cNvSpPr txBox="1"/>
          <p:nvPr/>
        </p:nvSpPr>
        <p:spPr>
          <a:xfrm>
            <a:off x="685800" y="2221992"/>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df.head()  Voir les premières lignes  PROC PRINT(obs=5)</a:t>
            </a:r>
          </a:p>
        </p:txBody>
      </p:sp>
      <p:sp>
        <p:nvSpPr>
          <p:cNvPr id="10" name="TextBox 9"/>
          <p:cNvSpPr txBox="1"/>
          <p:nvPr/>
        </p:nvSpPr>
        <p:spPr>
          <a:xfrm>
            <a:off x="685800" y="2423160"/>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df.info()  Voir colonnes et types  PROC CONTENTS</a:t>
            </a:r>
          </a:p>
        </p:txBody>
      </p:sp>
      <p:sp>
        <p:nvSpPr>
          <p:cNvPr id="11" name="TextBox 10"/>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df.describe()  Statistiques rapides  PROC MEANS</a:t>
            </a:r>
          </a:p>
        </p:txBody>
      </p:sp>
      <p:sp>
        <p:nvSpPr>
          <p:cNvPr id="12" name="TextBox 11"/>
          <p:cNvSpPr txBox="1"/>
          <p:nvPr/>
        </p:nvSpPr>
        <p:spPr>
          <a:xfrm>
            <a:off x="685800" y="2825496"/>
            <a:ext cx="7772400" cy="301752"/>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Dataset SAS → DataFrame pandas pour manipuler localement.</a:t>
            </a:r>
          </a:p>
        </p:txBody>
      </p:sp>
      <p:sp>
        <p:nvSpPr>
          <p:cNvPr id="13" name="TextBox 12"/>
          <p:cNvSpPr txBox="1"/>
          <p:nvPr/>
        </p:nvSpPr>
        <p:spPr>
          <a:xfrm>
            <a:off x="685800" y="3081528"/>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La question métier ne change pas. On change seulement la syntaxe.</a:t>
            </a:r>
          </a:p>
        </p:txBody>
      </p:sp>
      <p:sp>
        <p:nvSpPr>
          <p:cNvPr id="14" name="Rectangle 13"/>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5" name="TextBox 14"/>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6" name="TextBox 15"/>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pandas 2</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Charger, contexte, chemin</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 chemin pandas commence par /dbfs parce que pandas lit via le système de fichiers local Databricks.</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Piège</a:t>
            </a:r>
          </a:p>
        </p:txBody>
      </p:sp>
      <p:sp>
        <p:nvSpPr>
          <p:cNvPr id="6" name="TextBox 5"/>
          <p:cNvSpPr txBox="1"/>
          <p:nvPr/>
        </p:nvSpPr>
        <p:spPr>
          <a:xfrm>
            <a:off x="685800" y="16367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Deux chemins proches</a:t>
            </a:r>
          </a:p>
        </p:txBody>
      </p:sp>
      <p:sp>
        <p:nvSpPr>
          <p:cNvPr id="7" name="TextBox 6"/>
          <p:cNvSpPr txBox="1"/>
          <p:nvPr/>
        </p:nvSpPr>
        <p:spPr>
          <a:xfrm>
            <a:off x="685800" y="18013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pandas: /dbfs/FileStore/tables/insurance.csv</a:t>
            </a:r>
          </a:p>
        </p:txBody>
      </p:sp>
      <p:sp>
        <p:nvSpPr>
          <p:cNvPr id="8" name="TextBox 7"/>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Spark</a:t>
            </a:r>
          </a:p>
        </p:txBody>
      </p:sp>
      <p:sp>
        <p:nvSpPr>
          <p:cNvPr id="9" name="TextBox 8"/>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Sans /dbfs</a:t>
            </a:r>
          </a:p>
        </p:txBody>
      </p:sp>
      <p:sp>
        <p:nvSpPr>
          <p:cNvPr id="10" name="TextBox 9"/>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Spark: /FileStore/tables/insurance.csv</a:t>
            </a:r>
          </a:p>
        </p:txBody>
      </p:sp>
      <p:sp>
        <p:nvSpPr>
          <p:cNvPr id="11" name="TextBox 10"/>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TABLEAU :</a:t>
            </a:r>
          </a:p>
        </p:txBody>
      </p:sp>
      <p:sp>
        <p:nvSpPr>
          <p:cNvPr id="12" name="TextBox 11"/>
          <p:cNvSpPr txBox="1"/>
          <p:nvPr/>
        </p:nvSpPr>
        <p:spPr>
          <a:xfrm>
            <a:off x="685800" y="273405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Librairie  Chemin</a:t>
            </a:r>
          </a:p>
        </p:txBody>
      </p:sp>
      <p:sp>
        <p:nvSpPr>
          <p:cNvPr id="13" name="TextBox 12"/>
          <p:cNvSpPr txBox="1"/>
          <p:nvPr/>
        </p:nvSpPr>
        <p:spPr>
          <a:xfrm>
            <a:off x="685800" y="291693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pandas  /dbfs/FileStore/tables/insurance.csv</a:t>
            </a:r>
          </a:p>
        </p:txBody>
      </p:sp>
      <p:sp>
        <p:nvSpPr>
          <p:cNvPr id="14" name="TextBox 13"/>
          <p:cNvSpPr txBox="1"/>
          <p:nvPr/>
        </p:nvSpPr>
        <p:spPr>
          <a:xfrm>
            <a:off x="685800" y="311810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5" name="TextBox 14"/>
          <p:cNvSpPr txBox="1"/>
          <p:nvPr/>
        </p:nvSpPr>
        <p:spPr>
          <a:xfrm>
            <a:off x="685800" y="3319272"/>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6" name="TextBox 15"/>
          <p:cNvSpPr txBox="1"/>
          <p:nvPr/>
        </p:nvSpPr>
        <p:spPr>
          <a:xfrm>
            <a:off x="685800" y="3520440"/>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7" name="TextBox 16"/>
          <p:cNvSpPr txBox="1"/>
          <p:nvPr/>
        </p:nvSpPr>
        <p:spPr>
          <a:xfrm>
            <a:off x="685800" y="372160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8" name="TextBox 17"/>
          <p:cNvSpPr txBox="1"/>
          <p:nvPr/>
        </p:nvSpPr>
        <p:spPr>
          <a:xfrm>
            <a:off x="685800" y="392277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9" name="TextBox 18"/>
          <p:cNvSpPr txBox="1"/>
          <p:nvPr/>
        </p:nvSpPr>
        <p:spPr>
          <a:xfrm>
            <a:off x="685800" y="4123944"/>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
            </a:r>
          </a:p>
        </p:txBody>
      </p:sp>
      <p:sp>
        <p:nvSpPr>
          <p:cNvPr id="20" name="Rectangle 1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21" name="TextBox 2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2" name="TextBox 2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pandas 3, 4, 5</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Trois gestes complémentaires</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select</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Choisir les colonnes</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df[["age", "charges"]] réduit la table aux variables utiles pour la question.</a:t>
            </a:r>
          </a:p>
        </p:txBody>
      </p:sp>
      <p:sp>
        <p:nvSpPr>
          <p:cNvPr id="7" name="TextBox 6"/>
          <p:cNvSpPr txBox="1"/>
          <p:nvPr/>
        </p:nvSpPr>
        <p:spPr>
          <a:xfrm>
            <a:off x="685800" y="163677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filter</a:t>
            </a:r>
          </a:p>
        </p:txBody>
      </p:sp>
      <p:sp>
        <p:nvSpPr>
          <p:cNvPr id="8" name="TextBox 7"/>
          <p:cNvSpPr txBox="1"/>
          <p:nvPr/>
        </p:nvSpPr>
        <p:spPr>
          <a:xfrm>
            <a:off x="685800" y="1801367"/>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Choisir les lignes</a:t>
            </a:r>
          </a:p>
        </p:txBody>
      </p:sp>
      <p:sp>
        <p:nvSpPr>
          <p:cNvPr id="9" name="TextBox 8"/>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df[df["age"] &gt; 50] garde uniquement les lignes qui respectent la condition.</a:t>
            </a:r>
          </a:p>
        </p:txBody>
      </p:sp>
      <p:sp>
        <p:nvSpPr>
          <p:cNvPr id="10" name="TextBox 9"/>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sort</a:t>
            </a:r>
          </a:p>
        </p:txBody>
      </p:sp>
      <p:sp>
        <p:nvSpPr>
          <p:cNvPr id="11" name="TextBox 10"/>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Classer</a:t>
            </a:r>
          </a:p>
        </p:txBody>
      </p:sp>
      <p:sp>
        <p:nvSpPr>
          <p:cNvPr id="12" name="TextBox 11"/>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df.sort_values("charges", ascending=False) montre les coûts les plus élevés.</a:t>
            </a:r>
          </a:p>
        </p:txBody>
      </p:sp>
      <p:sp>
        <p:nvSpPr>
          <p:cNvPr id="13" name="Rectangle 12"/>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03 · pandas</a:t>
            </a:r>
          </a:p>
        </p:txBody>
      </p:sp>
      <p:sp>
        <p:nvSpPr>
          <p:cNvPr id="14" name="TextBox 13"/>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5" name="TextBox 14"/>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pandas</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GroupBy · l'équivalent mental de PROC MEANS</a:t>
            </a:r>
          </a:p>
        </p:txBody>
      </p:sp>
      <p:sp>
        <p:nvSpPr>
          <p:cNvPr id="4" name="TextBox 3"/>
          <p:cNvSpPr txBox="1"/>
          <p:nvPr/>
        </p:nvSpPr>
        <p:spPr>
          <a:xfrm>
            <a:off x="685800" y="1088136"/>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Lecture compliquée — groupby est une magie Python.</a:t>
            </a:r>
          </a:p>
        </p:txBody>
      </p:sp>
      <p:sp>
        <p:nvSpPr>
          <p:cNvPr id="5" name="TextBox 4"/>
          <p:cNvSpPr txBox="1"/>
          <p:nvPr/>
        </p:nvSpPr>
        <p:spPr>
          <a:xfrm>
            <a:off x="685800" y="1399032"/>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Bonne lecture — on découpe la table par région, puis on calcule la moyenne des charges.</a:t>
            </a:r>
          </a:p>
        </p:txBody>
      </p:sp>
      <p:sp>
        <p:nvSpPr>
          <p:cNvPr id="6" name="TextBox 5"/>
          <p:cNvSpPr txBox="1"/>
          <p:nvPr/>
        </p:nvSpPr>
        <p:spPr>
          <a:xfrm>
            <a:off x="685800" y="1709928"/>
            <a:ext cx="7772400" cy="301752"/>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df.groupby("region")["charges"].mean()</a:t>
            </a:r>
          </a:p>
        </p:txBody>
      </p:sp>
      <p:sp>
        <p:nvSpPr>
          <p:cNvPr id="7" name="Rectangle 6"/>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03 · pandas</a:t>
            </a:r>
          </a:p>
        </p:txBody>
      </p:sp>
      <p:sp>
        <p:nvSpPr>
          <p:cNvPr id="8" name="TextBox 7"/>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19</a:t>
            </a:r>
          </a:p>
        </p:txBody>
      </p:sp>
      <p:sp>
        <p:nvSpPr>
          <p:cNvPr id="9" name="TextBox 8"/>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pandas</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Les 4 dimensions de l'exploration</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Une analyse fiable commence par regarder la donnée avant de conclure.</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Forme</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Lignes, colonnes</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Combien d'observations? Quelles variables? Le fichier est-il celui attendu?</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Types</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Numérique ou texte</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age doit être numérique, smoker doit être une modalité.</a:t>
            </a:r>
          </a:p>
        </p:txBody>
      </p:sp>
      <p:sp>
        <p:nvSpPr>
          <p:cNvPr id="11" name="TextBox 10"/>
          <p:cNvSpPr txBox="1"/>
          <p:nvPr/>
        </p:nvSpPr>
        <p:spPr>
          <a:xfrm>
            <a:off x="685800" y="24597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Valeurs</a:t>
            </a:r>
          </a:p>
        </p:txBody>
      </p:sp>
      <p:sp>
        <p:nvSpPr>
          <p:cNvPr id="12" name="TextBox 11"/>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Min, max, moyenne</a:t>
            </a:r>
          </a:p>
        </p:txBody>
      </p:sp>
      <p:sp>
        <p:nvSpPr>
          <p:cNvPr id="13" name="TextBox 12"/>
          <p:cNvSpPr txBox="1"/>
          <p:nvPr/>
        </p:nvSpPr>
        <p:spPr>
          <a:xfrm>
            <a:off x="685800" y="28254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Repérer les ordres de grandeur aberrants.</a:t>
            </a:r>
          </a:p>
        </p:txBody>
      </p:sp>
      <p:sp>
        <p:nvSpPr>
          <p:cNvPr id="14" name="TextBox 13"/>
          <p:cNvSpPr txBox="1"/>
          <p:nvPr/>
        </p:nvSpPr>
        <p:spPr>
          <a:xfrm>
            <a:off x="685800" y="30083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
            </a:r>
          </a:p>
        </p:txBody>
      </p:sp>
      <p:sp>
        <p:nvSpPr>
          <p:cNvPr id="15" name="TextBox 14"/>
          <p:cNvSpPr txBox="1"/>
          <p:nvPr/>
        </p:nvSpPr>
        <p:spPr>
          <a:xfrm>
            <a:off x="685800" y="31729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a:r>
          </a:p>
        </p:txBody>
      </p:sp>
      <p:sp>
        <p:nvSpPr>
          <p:cNvPr id="17" name="TextBox 16"/>
          <p:cNvSpPr txBox="1"/>
          <p:nvPr/>
        </p:nvSpPr>
        <p:spPr>
          <a:xfrm>
            <a:off x="685800" y="355701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
            </a:r>
          </a:p>
        </p:txBody>
      </p:sp>
      <p:sp>
        <p:nvSpPr>
          <p:cNvPr id="18" name="Rectangle 17"/>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9" name="TextBox 18"/>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0" name="TextBox 19"/>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04</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04 · 30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Spark,sans théorie.</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Même logique de table, prévu pour des volumes plus grands dans Databricks.</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21 Section 04 — Spark</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21</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Spark</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Spark n'est pas une donnée comme une autre.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 Spark DataFrame reste une table, mais l'exécution est gérée par le cluster.</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On garde select, filter, groupBy.</a:t>
            </a:r>
          </a:p>
        </p:txBody>
      </p:sp>
      <p:sp>
        <p:nvSpPr>
          <p:cNvPr id="6" name="TextBox 5"/>
          <p:cNvSpPr txBox="1"/>
          <p:nvPr/>
        </p:nvSpPr>
        <p:spPr>
          <a:xfrm>
            <a:off x="685800" y="163677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On évite les détails de distribution cette semaine.</a:t>
            </a:r>
          </a:p>
        </p:txBody>
      </p:sp>
      <p:sp>
        <p:nvSpPr>
          <p:cNvPr id="7" name="TextBox 6"/>
          <p:cNvSpPr txBox="1"/>
          <p:nvPr/>
        </p:nvSpPr>
        <p:spPr>
          <a:xfrm>
            <a:off x="685800" y="1911095"/>
            <a:ext cx="7772400" cy="320040"/>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RÉFÉRENCE — Databricks notebook — Spark est disponible directement via la variable spark.</a:t>
            </a:r>
          </a:p>
        </p:txBody>
      </p:sp>
      <p:sp>
        <p:nvSpPr>
          <p:cNvPr id="8" name="TextBox 7"/>
          <p:cNvSpPr txBox="1"/>
          <p:nvPr/>
        </p:nvSpPr>
        <p:spPr>
          <a:xfrm>
            <a:off x="685800" y="2185415"/>
            <a:ext cx="7772400" cy="320040"/>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PRATIQUE — display(spark_df) affiche une table interactive dans le notebook.</a:t>
            </a:r>
          </a:p>
        </p:txBody>
      </p:sp>
      <p:sp>
        <p:nvSpPr>
          <p:cNvPr id="9" name="TextBox 8"/>
          <p:cNvSpPr txBox="1"/>
          <p:nvPr/>
        </p:nvSpPr>
        <p:spPr>
          <a:xfrm>
            <a:off x="685800" y="2459735"/>
            <a:ext cx="7772400" cy="320040"/>
          </a:xfrm>
          <a:prstGeom prst="rect">
            <a:avLst/>
          </a:prstGeom>
          <a:noFill/>
        </p:spPr>
        <p:txBody>
          <a:bodyPr wrap="square">
            <a:spAutoFit/>
          </a:bodyPr>
          <a:lstStyle/>
          <a:p>
            <a:pPr algn="l">
              <a:spcBef>
                <a:spcPts val="0"/>
              </a:spcBef>
              <a:spcAft>
                <a:spcPts val="200"/>
              </a:spcAft>
            </a:pPr>
            <a:r>
              <a:rPr sz="2000" b="1" i="0">
                <a:ea typeface="Inter"/>
                <a:solidFill>
                  <a:srgbClr val="FF6745"/>
                </a:solidFill>
                <a:latin typeface="Inter"/>
              </a:rPr>
              <a:t>Notebook Cluster DataFrame select filter groupBy display</a:t>
            </a:r>
          </a:p>
        </p:txBody>
      </p:sp>
      <p:sp>
        <p:nvSpPr>
          <p:cNvPr id="10" name="Rectangle 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04 · Spark</a:t>
            </a:r>
          </a:p>
        </p:txBody>
      </p:sp>
      <p:sp>
        <p:nvSpPr>
          <p:cNvPr id="11" name="TextBox 1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22</a:t>
            </a:r>
          </a:p>
        </p:txBody>
      </p:sp>
      <p:sp>
        <p:nvSpPr>
          <p:cNvPr id="12" name="TextBox 1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Spark</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Pendant la semaine 1 : simplicité.</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 dataset de formation reste petit :</a:t>
            </a:r>
          </a:p>
        </p:txBody>
      </p:sp>
      <p:sp>
        <p:nvSpPr>
          <p:cNvPr id="5" name="TextBox 4"/>
          <p:cNvSpPr txBox="1"/>
          <p:nvPr/>
        </p:nvSpPr>
        <p:spPr>
          <a:xfrm>
            <a:off x="685800" y="136245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Colonnes → age, sex, bmi, children, smoker, region, charges.</a:t>
            </a:r>
          </a:p>
        </p:txBody>
      </p:sp>
      <p:sp>
        <p:nvSpPr>
          <p:cNvPr id="6" name="TextBox 5"/>
          <p:cNvSpPr txBox="1"/>
          <p:nvPr/>
        </p:nvSpPr>
        <p:spPr>
          <a:xfrm>
            <a:off x="685800" y="160020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Objectif → comparer pandas, Spark et SQL sur les mêmes questions.</a:t>
            </a:r>
          </a:p>
        </p:txBody>
      </p:sp>
      <p:sp>
        <p:nvSpPr>
          <p:cNvPr id="7" name="TextBox 6"/>
          <p:cNvSpPr txBox="1"/>
          <p:nvPr/>
        </p:nvSpPr>
        <p:spPr>
          <a:xfrm>
            <a:off x="685800" y="1837943"/>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Spark read → spark.read.csv(..., header=True, inferSchema=True).</a:t>
            </a:r>
          </a:p>
        </p:txBody>
      </p:sp>
      <p:sp>
        <p:nvSpPr>
          <p:cNvPr id="8" name="TextBox 7"/>
          <p:cNvSpPr txBox="1"/>
          <p:nvPr/>
        </p:nvSpPr>
        <p:spPr>
          <a:xfrm>
            <a:off x="685800" y="2075687"/>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display → visualisation Databricks.</a:t>
            </a:r>
          </a:p>
        </p:txBody>
      </p:sp>
      <p:sp>
        <p:nvSpPr>
          <p:cNvPr id="9" name="TextBox 8"/>
          <p:cNvSpPr txBox="1"/>
          <p:nvPr/>
        </p:nvSpPr>
        <p:spPr>
          <a:xfrm>
            <a:off x="685800" y="2313431"/>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groupBy → moyenne de charges par segment.</a:t>
            </a:r>
          </a:p>
        </p:txBody>
      </p:sp>
      <p:sp>
        <p:nvSpPr>
          <p:cNvPr id="10" name="TextBox 9"/>
          <p:cNvSpPr txBox="1"/>
          <p:nvPr/>
        </p:nvSpPr>
        <p:spPr>
          <a:xfrm>
            <a:off x="685800" y="2551175"/>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Extrait
spark_df = spark.read.csv("/FileStore/tables/insurance.csv", header=True, inferSchema=True)</a:t>
            </a:r>
          </a:p>
        </p:txBody>
      </p:sp>
      <p:sp>
        <p:nvSpPr>
          <p:cNvPr id="11" name="Rectangle 1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04 · Spark</a:t>
            </a:r>
          </a:p>
        </p:txBody>
      </p:sp>
      <p:sp>
        <p:nvSpPr>
          <p:cNvPr id="12" name="TextBox 1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23</a:t>
            </a:r>
          </a:p>
        </p:txBody>
      </p:sp>
      <p:sp>
        <p:nvSpPr>
          <p:cNvPr id="13" name="TextBox 1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Spark</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Traduire un geste pandas en Spark</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Avant de passer à SQL, on répète les mêmes intentions :</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Sources : notebook 04_spark_basics.py, exercices guidés.</a:t>
            </a:r>
          </a:p>
        </p:txBody>
      </p:sp>
      <p:sp>
        <p:nvSpPr>
          <p:cNvPr id="6" name="TextBox 5"/>
          <p:cNvSpPr txBox="1"/>
          <p:nvPr/>
        </p:nvSpPr>
        <p:spPr>
          <a:xfrm>
            <a:off x="685800" y="16367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Sélection</a:t>
            </a:r>
          </a:p>
        </p:txBody>
      </p:sp>
      <p:sp>
        <p:nvSpPr>
          <p:cNvPr id="7" name="TextBox 6"/>
          <p:cNvSpPr txBox="1"/>
          <p:nvPr/>
        </p:nvSpPr>
        <p:spPr>
          <a:xfrm>
            <a:off x="685800" y="18013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Choisir des colonnes</a:t>
            </a:r>
          </a:p>
        </p:txBody>
      </p:sp>
      <p:sp>
        <p:nvSpPr>
          <p:cNvPr id="8" name="TextBox 7"/>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spark_df.select("age", "charges")</a:t>
            </a:r>
          </a:p>
        </p:txBody>
      </p:sp>
      <p:sp>
        <p:nvSpPr>
          <p:cNvPr id="9" name="TextBox 8"/>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Filtre</a:t>
            </a:r>
          </a:p>
        </p:txBody>
      </p:sp>
      <p:sp>
        <p:nvSpPr>
          <p:cNvPr id="10" name="TextBox 9"/>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Garder des lignes</a:t>
            </a:r>
          </a:p>
        </p:txBody>
      </p:sp>
      <p:sp>
        <p:nvSpPr>
          <p:cNvPr id="11" name="TextBox 10"/>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spark_df.filter(spark_df.age &gt; 50)</a:t>
            </a:r>
          </a:p>
        </p:txBody>
      </p:sp>
      <p:sp>
        <p:nvSpPr>
          <p:cNvPr id="12" name="TextBox 11"/>
          <p:cNvSpPr txBox="1"/>
          <p:nvPr/>
        </p:nvSpPr>
        <p:spPr>
          <a:xfrm>
            <a:off x="685800" y="27340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Agrégation</a:t>
            </a:r>
          </a:p>
        </p:txBody>
      </p:sp>
      <p:sp>
        <p:nvSpPr>
          <p:cNvPr id="13" name="TextBox 12"/>
          <p:cNvSpPr txBox="1"/>
          <p:nvPr/>
        </p:nvSpPr>
        <p:spPr>
          <a:xfrm>
            <a:off x="685800" y="28986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Calculer une moyenne par groupe</a:t>
            </a:r>
          </a:p>
        </p:txBody>
      </p:sp>
      <p:sp>
        <p:nvSpPr>
          <p:cNvPr id="14" name="TextBox 13"/>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a:r>
          </a:p>
        </p:txBody>
      </p:sp>
      <p:sp>
        <p:nvSpPr>
          <p:cNvPr id="15" name="TextBox 14"/>
          <p:cNvSpPr txBox="1"/>
          <p:nvPr/>
        </p:nvSpPr>
        <p:spPr>
          <a:xfrm>
            <a:off x="685800" y="3282696"/>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6" name="TextBox 15"/>
          <p:cNvSpPr txBox="1"/>
          <p:nvPr/>
        </p:nvSpPr>
        <p:spPr>
          <a:xfrm>
            <a:off x="685800" y="3593592"/>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7" name="TextBox 16"/>
          <p:cNvSpPr txBox="1"/>
          <p:nvPr/>
        </p:nvSpPr>
        <p:spPr>
          <a:xfrm>
            <a:off x="685800" y="3904488"/>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
            </a:r>
          </a:p>
        </p:txBody>
      </p:sp>
      <p:sp>
        <p:nvSpPr>
          <p:cNvPr id="18" name="Rectangle 17"/>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9" name="TextBox 18"/>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0" name="TextBox 19"/>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Spark</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Ce qui change vraiment</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pandas</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Exploration locale</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Très lisible pour apprendre, manipuler un CSV et raisonner vite.</a:t>
            </a:r>
          </a:p>
        </p:txBody>
      </p:sp>
      <p:sp>
        <p:nvSpPr>
          <p:cNvPr id="7" name="TextBox 6"/>
          <p:cNvSpPr txBox="1"/>
          <p:nvPr/>
        </p:nvSpPr>
        <p:spPr>
          <a:xfrm>
            <a:off x="685800" y="163677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Spark</a:t>
            </a:r>
          </a:p>
        </p:txBody>
      </p:sp>
      <p:sp>
        <p:nvSpPr>
          <p:cNvPr id="8" name="TextBox 7"/>
          <p:cNvSpPr txBox="1"/>
          <p:nvPr/>
        </p:nvSpPr>
        <p:spPr>
          <a:xfrm>
            <a:off x="685800" y="1801367"/>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Exécution cluster</a:t>
            </a:r>
          </a:p>
        </p:txBody>
      </p:sp>
      <p:sp>
        <p:nvSpPr>
          <p:cNvPr id="9" name="TextBox 8"/>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Même logique table, mais pensée pour Databricks et des volumes plus grands.</a:t>
            </a:r>
          </a:p>
        </p:txBody>
      </p:sp>
      <p:sp>
        <p:nvSpPr>
          <p:cNvPr id="10" name="TextBox 9"/>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SQL</a:t>
            </a:r>
          </a:p>
        </p:txBody>
      </p:sp>
      <p:sp>
        <p:nvSpPr>
          <p:cNvPr id="11" name="TextBox 10"/>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Langage familier</a:t>
            </a:r>
          </a:p>
        </p:txBody>
      </p:sp>
      <p:sp>
        <p:nvSpPr>
          <p:cNvPr id="12" name="TextBox 11"/>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Requêtes déclaratives, souvent proches de PROC SQL.</a:t>
            </a:r>
          </a:p>
        </p:txBody>
      </p:sp>
      <p:sp>
        <p:nvSpPr>
          <p:cNvPr id="13" name="TextBox 12"/>
          <p:cNvSpPr txBox="1"/>
          <p:nvPr/>
        </p:nvSpPr>
        <p:spPr>
          <a:xfrm>
            <a:off x="685800" y="27340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Spark</a:t>
            </a:r>
          </a:p>
        </p:txBody>
      </p:sp>
      <p:sp>
        <p:nvSpPr>
          <p:cNvPr id="14" name="TextBox 13"/>
          <p:cNvSpPr txBox="1"/>
          <p:nvPr/>
        </p:nvSpPr>
        <p:spPr>
          <a:xfrm>
            <a:off x="685800" y="28986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
            </a:r>
          </a:p>
        </p:txBody>
      </p:sp>
      <p:sp>
        <p:nvSpPr>
          <p:cNvPr id="15" name="TextBox 14"/>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a:r>
          </a:p>
        </p:txBody>
      </p:sp>
      <p:sp>
        <p:nvSpPr>
          <p:cNvPr id="16" name="Rectangle 1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7" name="TextBox 1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8" name="TextBox 1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Section 05 · 35 min</a:t>
            </a:r>
          </a:p>
        </p:txBody>
      </p:sp>
      <p:sp>
        <p:nvSpPr>
          <p:cNvPr id="4" name="TextBox 3"/>
          <p:cNvSpPr txBox="1"/>
          <p:nvPr/>
        </p:nvSpPr>
        <p:spPr>
          <a:xfrm>
            <a:off x="685800" y="108813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SQL,dans Databricks.</a:t>
            </a:r>
          </a:p>
        </p:txBody>
      </p:sp>
      <p:sp>
        <p:nvSpPr>
          <p:cNvPr id="5" name="TextBox 4"/>
          <p:cNvSpPr txBox="1"/>
          <p:nvPr/>
        </p:nvSpPr>
        <p:spPr>
          <a:xfrm>
            <a:off x="685800" y="127101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On réutilise un langage familier pour poser des questions analytiques.</a:t>
            </a:r>
          </a:p>
        </p:txBody>
      </p:sp>
      <p:sp>
        <p:nvSpPr>
          <p:cNvPr id="6" name="TextBox 5"/>
          <p:cNvSpPr txBox="1"/>
          <p:nvPr/>
        </p:nvSpPr>
        <p:spPr>
          <a:xfrm>
            <a:off x="685800" y="147218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27 Section 05 — SQL</a:t>
            </a:r>
          </a:p>
        </p:txBody>
      </p:sp>
      <p:sp>
        <p:nvSpPr>
          <p:cNvPr id="7" name="TextBox 6"/>
          <p:cNvSpPr txBox="1"/>
          <p:nvPr/>
        </p:nvSpPr>
        <p:spPr>
          <a:xfrm>
            <a:off x="685800" y="1673351"/>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27</a:t>
            </a:r>
          </a:p>
        </p:txBody>
      </p:sp>
      <p:sp>
        <p:nvSpPr>
          <p:cNvPr id="8" name="TextBox 7"/>
          <p:cNvSpPr txBox="1"/>
          <p:nvPr/>
        </p:nvSpPr>
        <p:spPr>
          <a:xfrm>
            <a:off x="685800" y="1874519"/>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a:r>
          </a:p>
        </p:txBody>
      </p:sp>
      <p:sp>
        <p:nvSpPr>
          <p:cNvPr id="10" name="Rectangle 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1" name="TextBox 1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2" name="TextBox 1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05 · SQL</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5 blocs utiles pour une requête analytique</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Une requête claire permet de vérifier vite une intuition métier.</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Bloc 01 · SELECT</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Quelles colonnes ?</a:t>
            </a: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region, smoker, AVG(charges)</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Bloc 02 · FROM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SQL</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COUNT · AVG · GROUP BY</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01 · COUNT</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Combien de lignes ?</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SELECT COUNT(*) FROM insurance</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Vérifie le volume chargé.</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AVG</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Quelle moyenne ?</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SELECT AVG(charges) FROM insurance</a:t>
            </a:r>
          </a:p>
        </p:txBody>
      </p:sp>
      <p:sp>
        <p:nvSpPr>
          <p:cNvPr id="11" name="TextBox 10"/>
          <p:cNvSpPr txBox="1"/>
          <p:nvPr/>
        </p:nvSpPr>
        <p:spPr>
          <a:xfrm>
            <a:off x="685800" y="24597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 Donne un ordre de grandeur.</a:t>
            </a:r>
          </a:p>
        </p:txBody>
      </p:sp>
      <p:sp>
        <p:nvSpPr>
          <p:cNvPr id="12" name="TextBox 11"/>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03 · GROUP BY</a:t>
            </a:r>
          </a:p>
        </p:txBody>
      </p:sp>
      <p:sp>
        <p:nvSpPr>
          <p:cNvPr id="13" name="TextBox 12"/>
          <p:cNvSpPr txBox="1"/>
          <p:nvPr/>
        </p:nvSpPr>
        <p:spPr>
          <a:xfrm>
            <a:off x="685800" y="28254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Par segment</a:t>
            </a:r>
          </a:p>
        </p:txBody>
      </p:sp>
      <p:sp>
        <p:nvSpPr>
          <p:cNvPr id="14" name="TextBox 13"/>
          <p:cNvSpPr txBox="1"/>
          <p:nvPr/>
        </p:nvSpPr>
        <p:spPr>
          <a:xfrm>
            <a:off x="685800" y="30083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
            </a:r>
          </a:p>
        </p:txBody>
      </p:sp>
      <p:sp>
        <p:nvSpPr>
          <p:cNvPr id="15" name="TextBox 14"/>
          <p:cNvSpPr txBox="1"/>
          <p:nvPr/>
        </p:nvSpPr>
        <p:spPr>
          <a:xfrm>
            <a:off x="685800" y="31729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a:r>
          </a:p>
        </p:txBody>
      </p:sp>
      <p:sp>
        <p:nvSpPr>
          <p:cNvPr id="17" name="TextBox 16"/>
          <p:cNvSpPr txBox="1"/>
          <p:nvPr/>
        </p:nvSpPr>
        <p:spPr>
          <a:xfrm>
            <a:off x="685800" y="35570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
            </a:r>
          </a:p>
        </p:txBody>
      </p:sp>
      <p:sp>
        <p:nvSpPr>
          <p:cNvPr id="18" name="TextBox 17"/>
          <p:cNvSpPr txBox="1"/>
          <p:nvPr/>
        </p:nvSpPr>
        <p:spPr>
          <a:xfrm>
            <a:off x="685800" y="37216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
            </a:r>
          </a:p>
        </p:txBody>
      </p:sp>
      <p:sp>
        <p:nvSpPr>
          <p:cNvPr id="19" name="TextBox 18"/>
          <p:cNvSpPr txBox="1"/>
          <p:nvPr/>
        </p:nvSpPr>
        <p:spPr>
          <a:xfrm>
            <a:off x="685800" y="39227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a:r>
          </a:p>
        </p:txBody>
      </p:sp>
      <p:sp>
        <p:nvSpPr>
          <p:cNvPr id="20" name="TextBox 19"/>
          <p:cNvSpPr txBox="1"/>
          <p:nvPr/>
        </p:nvSpPr>
        <p:spPr>
          <a:xfrm>
            <a:off x="685800" y="410565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
            </a:r>
          </a:p>
        </p:txBody>
      </p:sp>
      <p:sp>
        <p:nvSpPr>
          <p:cNvPr id="21" name="Rectangle 2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22" name="TextBox 2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23" name="TextBox 2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SQL</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Mini challenge final</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Question métier : quel segment génère les coûts médicaux les plus élevés ?</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01 · Segmenter</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Choisir les axes</a:t>
            </a:r>
          </a:p>
        </p:txBody>
      </p:sp>
      <p:sp>
        <p:nvSpPr>
          <p:cNvPr id="7" name="TextBox 6"/>
          <p:cNvSpPr txBox="1"/>
          <p:nvPr/>
        </p:nvSpPr>
        <p:spPr>
          <a:xfrm>
            <a:off x="685800" y="163677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smoker, age_segment, sex ou region.</a:t>
            </a:r>
          </a:p>
        </p:txBody>
      </p:sp>
      <p:sp>
        <p:nvSpPr>
          <p:cNvPr id="8" name="TextBox 7"/>
          <p:cNvSpPr txBox="1"/>
          <p:nvPr/>
        </p:nvSpPr>
        <p:spPr>
          <a:xfrm>
            <a:off x="685800" y="181965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Agréger</a:t>
            </a:r>
          </a:p>
        </p:txBody>
      </p:sp>
      <p:sp>
        <p:nvSpPr>
          <p:cNvPr id="9" name="TextBox 8"/>
          <p:cNvSpPr txBox="1"/>
          <p:nvPr/>
        </p:nvSpPr>
        <p:spPr>
          <a:xfrm>
            <a:off x="685800" y="19842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Calculer AVG(charges)</a:t>
            </a:r>
          </a:p>
        </p:txBody>
      </p:sp>
      <p:sp>
        <p:nvSpPr>
          <p:cNvPr id="10" name="TextBox 9"/>
          <p:cNvSpPr txBox="1"/>
          <p:nvPr/>
        </p:nvSpPr>
        <p:spPr>
          <a:xfrm>
            <a:off x="685800" y="21854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Comparer les moyennes par segment, pas seulement les lignes extrêmes.</a:t>
            </a:r>
          </a:p>
        </p:txBody>
      </p:sp>
      <p:sp>
        <p:nvSpPr>
          <p:cNvPr id="11" name="TextBox 10"/>
          <p:cNvSpPr txBox="1"/>
          <p:nvPr/>
        </p:nvSpPr>
        <p:spPr>
          <a:xfrm>
            <a:off x="685800" y="23682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03 · Interpréter</a:t>
            </a:r>
          </a:p>
        </p:txBody>
      </p:sp>
      <p:sp>
        <p:nvSpPr>
          <p:cNvPr id="12" name="TextBox 11"/>
          <p:cNvSpPr txBox="1"/>
          <p:nvPr/>
        </p:nvSpPr>
        <p:spPr>
          <a:xfrm>
            <a:off x="685800" y="25511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Phrase métier</a:t>
            </a:r>
          </a:p>
        </p:txBody>
      </p:sp>
      <p:sp>
        <p:nvSpPr>
          <p:cNvPr id="13" name="TextBox 12"/>
          <p:cNvSpPr txBox="1"/>
          <p:nvPr/>
        </p:nvSpPr>
        <p:spPr>
          <a:xfrm>
            <a:off x="685800" y="27157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 segment le plus coûteux est ... parce que ...</a:t>
            </a:r>
          </a:p>
        </p:txBody>
      </p:sp>
      <p:sp>
        <p:nvSpPr>
          <p:cNvPr id="14" name="TextBox 13"/>
          <p:cNvSpPr txBox="1"/>
          <p:nvPr/>
        </p:nvSpPr>
        <p:spPr>
          <a:xfrm>
            <a:off x="685800" y="29169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05 · SQL</a:t>
            </a:r>
          </a:p>
        </p:txBody>
      </p:sp>
      <p:sp>
        <p:nvSpPr>
          <p:cNvPr id="15" name="TextBox 14"/>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29</a:t>
            </a:r>
          </a:p>
        </p:txBody>
      </p:sp>
      <p:sp>
        <p:nvSpPr>
          <p:cNvPr id="16" name="Rectangle 1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t/>
            </a:r>
          </a:p>
        </p:txBody>
      </p:sp>
      <p:sp>
        <p:nvSpPr>
          <p:cNvPr id="17" name="TextBox 1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
            </a:r>
          </a:p>
        </p:txBody>
      </p:sp>
      <p:sp>
        <p:nvSpPr>
          <p:cNvPr id="18" name="TextBox 1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Sortie structurée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 contrat JSON · cas du Jour 1</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Cinq champs. Tout écart bloque le workflow.</a:t>
            </a:r>
          </a:p>
        </p:txBody>
      </p:sp>
      <p:sp>
        <p:nvSpPr>
          <p:cNvPr id="5" name="TextBox 4"/>
          <p:cNvSpPr txBox="1"/>
          <p:nvPr/>
        </p:nvSpPr>
        <p:spPr>
          <a:xfrm>
            <a:off x="685800" y="136245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lecture_metier → Comprendre la clause en une phrase d'auditeur.</a:t>
            </a:r>
          </a:p>
        </p:txBody>
      </p:sp>
      <p:sp>
        <p:nvSpPr>
          <p:cNvPr id="6" name="TextBox 5"/>
          <p:cNvSpPr txBox="1"/>
          <p:nvPr/>
        </p:nvSpPr>
        <p:spPr>
          <a:xfrm>
            <a:off x="685800" y="160020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risques_audit → Liste des angles morts de contrôle.</a:t>
            </a:r>
          </a:p>
        </p:txBody>
      </p:sp>
      <p:sp>
        <p:nvSpPr>
          <p:cNvPr id="7" name="TextBox 6"/>
          <p:cNvSpPr txBox="1"/>
          <p:nvPr/>
        </p:nvSpPr>
        <p:spPr>
          <a:xfrm>
            <a:off x="685800" y="1837943"/>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questions_de_controle → Questions concrètes à poser au métier.</a:t>
            </a:r>
          </a:p>
        </p:txBody>
      </p:sp>
      <p:sp>
        <p:nvSpPr>
          <p:cNvPr id="8" name="TextBox 7"/>
          <p:cNvSpPr txBox="1"/>
          <p:nvPr/>
        </p:nvSpPr>
        <p:spPr>
          <a:xfrm>
            <a:off x="685800" y="2075687"/>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anonymisation_requise → Booléen — il y a de la PII à masquer ?</a:t>
            </a:r>
          </a:p>
        </p:txBody>
      </p:sp>
      <p:sp>
        <p:nvSpPr>
          <p:cNvPr id="9" name="TextBox 8"/>
          <p:cNvSpPr txBox="1"/>
          <p:nvPr/>
        </p:nvSpPr>
        <p:spPr>
          <a:xfrm>
            <a:off x="685800" y="2313431"/>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niveau_sensibilite → Énum strict — pas de variante orthographique.</a:t>
            </a:r>
          </a:p>
        </p:txBody>
      </p:sp>
      <p:sp>
        <p:nvSpPr>
          <p:cNvPr id="10" name="TextBox 9"/>
          <p:cNvSpPr txBox="1"/>
          <p:nvPr/>
        </p:nvSpPr>
        <p:spPr>
          <a:xfrm>
            <a:off x="685800" y="2551175"/>
            <a:ext cx="7772400" cy="301752"/>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Schéma du Structured Output Parser { "lecture_metier": "résumé métier court", "risques_audit": [ "risque 1", "risque 2" ], "questions_de_controle": [ {"question": "à poser au paie manager"} ], "anonymisation_requise": false, "niveau_sensibilite": "Faible | Moyen | Eleve" }</a:t>
            </a:r>
          </a:p>
        </p:txBody>
      </p:sp>
      <p:sp>
        <p:nvSpPr>
          <p:cNvPr id="11" name="TextBox 10"/>
          <p:cNvSpPr txBox="1"/>
          <p:nvPr/>
        </p:nvSpPr>
        <p:spPr>
          <a:xfrm>
            <a:off x="685800" y="2807207"/>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Cinq champs. Tout écart bloque le workflow.</a:t>
            </a:r>
          </a:p>
        </p:txBody>
      </p:sp>
      <p:sp>
        <p:nvSpPr>
          <p:cNvPr id="12" name="Rectangle 11"/>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05 · Prompting</a:t>
            </a:r>
          </a:p>
        </p:txBody>
      </p:sp>
      <p:sp>
        <p:nvSpPr>
          <p:cNvPr id="14" name="TextBox 13"/>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Démo</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Un prompt audit-grade, en entier</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5 champs, types corrects, énum respectée. Le node If peut valider.</a:t>
            </a:r>
          </a:p>
        </p:txBody>
      </p:sp>
      <p:sp>
        <p:nvSpPr>
          <p:cNvPr id="5" name="TextBox 4"/>
          <p:cNvSpPr txBox="1"/>
          <p:nvPr/>
        </p:nvSpPr>
        <p:spPr>
          <a:xfrm>
            <a:off x="685800" y="1362456"/>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Sortie attendue { "lecture_metier": "Prime annuelle conditionnée à la performance, base brute.", "risques_audit": [ "Critères de perf. flous", "Exclusions opaques" ], "questions_de_controle": [ {"question": "Quels KPI déclenchent ?"} ], "anonymisation_requise": false, "niveau_sensibilite": "Moyen" }</a:t>
            </a:r>
          </a:p>
        </p:txBody>
      </p:sp>
      <p:sp>
        <p:nvSpPr>
          <p:cNvPr id="6" name="TextBox 5"/>
          <p:cNvSpPr txBox="1"/>
          <p:nvPr/>
        </p:nvSpPr>
        <p:spPr>
          <a:xfrm>
            <a:off x="685800" y="1600200"/>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5 champs, types corrects, énum respectée. Le node If peut valider.</a:t>
            </a:r>
          </a:p>
        </p:txBody>
      </p:sp>
      <p:sp>
        <p:nvSpPr>
          <p:cNvPr id="7" name="Rectangle 6"/>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05 · Prompting</a:t>
            </a:r>
          </a:p>
        </p:txBody>
      </p:sp>
      <p:sp>
        <p:nvSpPr>
          <p:cNvPr id="9" name="TextBox 8"/>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06</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06 · 1 h 30</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Premierworkflow n8n.</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On construit ensemble. Simple, mais déjà tracé, structuré, vérifié.</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32 Section 06 — Workflow</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n8n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n8n en 30 secondes</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Vous n'écrivez quasiment pas de code. Vous orchestrez des services.</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 · Workflow</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Une chaîne d'étapes</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Démarre sur un événement (trigger), passe par N nodes, finit sur un résultat.</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 · Node</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Une brique</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Reçoit des items en entrée, produit des items en sortie. 400+ types disponibles.</a:t>
            </a:r>
          </a:p>
        </p:txBody>
      </p:sp>
      <p:sp>
        <p:nvSpPr>
          <p:cNvPr id="11" name="TextBox 10"/>
          <p:cNvSpPr txBox="1"/>
          <p:nvPr/>
        </p:nvSpPr>
        <p:spPr>
          <a:xfrm>
            <a:off x="685800" y="24597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 · Item</a:t>
            </a:r>
          </a:p>
        </p:txBody>
      </p:sp>
      <p:sp>
        <p:nvSpPr>
          <p:cNvPr id="12" name="TextBox 11"/>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L'objet JSON qui circule</a:t>
            </a:r>
          </a:p>
        </p:txBody>
      </p:sp>
      <p:sp>
        <p:nvSpPr>
          <p:cNvPr id="13" name="TextBox 12"/>
          <p:cNvSpPr txBox="1"/>
          <p:nvPr/>
        </p:nvSpPr>
        <p:spPr>
          <a:xfrm>
            <a:off x="685800" y="28254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Une ligne CSV, un message, une réponse LLM. À chaque étape, on l'inspecte.</a:t>
            </a:r>
          </a:p>
        </p:txBody>
      </p:sp>
      <p:sp>
        <p:nvSpPr>
          <p:cNvPr id="14" name="TextBox 13"/>
          <p:cNvSpPr txBox="1"/>
          <p:nvPr/>
        </p:nvSpPr>
        <p:spPr>
          <a:xfrm>
            <a:off x="685800" y="30083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 · Credentials</a:t>
            </a:r>
          </a:p>
        </p:txBody>
      </p:sp>
      <p:sp>
        <p:nvSpPr>
          <p:cNvPr id="15" name="TextBox 14"/>
          <p:cNvSpPr txBox="1"/>
          <p:nvPr/>
        </p:nvSpPr>
        <p:spPr>
          <a:xfrm>
            <a:off x="685800" y="31729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Les secrets</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Clés API, mots de passe, tokens. Chiffrés par N8N_ENCRYPTION_KEY. Réutilisables.</a:t>
            </a:r>
          </a:p>
        </p:txBody>
      </p:sp>
      <p:sp>
        <p:nvSpPr>
          <p:cNvPr id="17" name="TextBox 16"/>
          <p:cNvSpPr txBox="1"/>
          <p:nvPr/>
        </p:nvSpPr>
        <p:spPr>
          <a:xfrm>
            <a:off x="685800" y="35570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 · Executions</a:t>
            </a:r>
          </a:p>
        </p:txBody>
      </p:sp>
      <p:sp>
        <p:nvSpPr>
          <p:cNvPr id="18" name="TextBox 17"/>
          <p:cNvSpPr txBox="1"/>
          <p:nvPr/>
        </p:nvSpPr>
        <p:spPr>
          <a:xfrm>
            <a:off x="685800" y="37216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Les traces</a:t>
            </a:r>
          </a:p>
        </p:txBody>
      </p:sp>
      <p:sp>
        <p:nvSpPr>
          <p:cNvPr id="19" name="TextBox 18"/>
          <p:cNvSpPr txBox="1"/>
          <p:nvPr/>
        </p:nvSpPr>
        <p:spPr>
          <a:xfrm>
            <a:off x="685800" y="39227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Chaque run est archivé. Input/output par node. Filtres, retry, rejeu.</a:t>
            </a:r>
          </a:p>
        </p:txBody>
      </p:sp>
      <p:sp>
        <p:nvSpPr>
          <p:cNvPr id="20" name="TextBox 19"/>
          <p:cNvSpPr txBox="1"/>
          <p:nvPr/>
        </p:nvSpPr>
        <p:spPr>
          <a:xfrm>
            <a:off x="685800" y="410565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Vous n'écrivez quasiment pas de code. Vous orchestrez des services.</a:t>
            </a:r>
          </a:p>
        </p:txBody>
      </p:sp>
      <p:sp>
        <p:nvSpPr>
          <p:cNvPr id="21" name="Rectangle 2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23" name="TextBox 2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Workflow J1</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 workflow d'aujourd'hui · vue d'ensemble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 node Analyser clause est servi par 2 sous-nodes : OpenAI Gateway (modèle) et Format JSON attendu (parser). On les voit aux slides suivantes.</a:t>
            </a:r>
          </a:p>
        </p:txBody>
      </p:sp>
      <p:sp>
        <p:nvSpPr>
          <p:cNvPr id="5" name="TextBox 4"/>
          <p:cNvSpPr txBox="1"/>
          <p:nvPr/>
        </p:nvSpPr>
        <p:spPr>
          <a:xfrm>
            <a:off x="685800" y="136245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[Trigger] Déclencheur Manuel</a:t>
            </a:r>
          </a:p>
        </p:txBody>
      </p:sp>
      <p:sp>
        <p:nvSpPr>
          <p:cNvPr id="6" name="TextBox 5"/>
          <p:cNvSpPr txBox="1"/>
          <p:nvPr/>
        </p:nvSpPr>
        <p:spPr>
          <a:xfrm>
            <a:off x="685800" y="1563624"/>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Contexte d'audit</a:t>
            </a:r>
          </a:p>
        </p:txBody>
      </p:sp>
      <p:sp>
        <p:nvSpPr>
          <p:cNvPr id="7" name="TextBox 6"/>
          <p:cNvSpPr txBox="1"/>
          <p:nvPr/>
        </p:nvSpPr>
        <p:spPr>
          <a:xfrm>
            <a:off x="685800" y="1764792"/>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[Basic LLM Chain] Analyser clause</a:t>
            </a:r>
          </a:p>
        </p:txBody>
      </p:sp>
      <p:sp>
        <p:nvSpPr>
          <p:cNvPr id="8" name="TextBox 7"/>
          <p:cNvSpPr txBox="1"/>
          <p:nvPr/>
        </p:nvSpPr>
        <p:spPr>
          <a:xfrm>
            <a:off x="685800" y="1965960"/>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Extraire champs</a:t>
            </a:r>
          </a:p>
        </p:txBody>
      </p:sp>
      <p:sp>
        <p:nvSpPr>
          <p:cNvPr id="9" name="TextBox 8"/>
          <p:cNvSpPr txBox="1"/>
          <p:nvPr/>
        </p:nvSpPr>
        <p:spPr>
          <a:xfrm>
            <a:off x="685800" y="2167128"/>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[If] Sensibilité valide ?</a:t>
            </a:r>
          </a:p>
        </p:txBody>
      </p:sp>
      <p:sp>
        <p:nvSpPr>
          <p:cNvPr id="10" name="TextBox 9"/>
          <p:cNvSpPr txBox="1"/>
          <p:nvPr/>
        </p:nvSpPr>
        <p:spPr>
          <a:xfrm>
            <a:off x="685800" y="236829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Résultat OK</a:t>
            </a:r>
          </a:p>
        </p:txBody>
      </p:sp>
      <p:sp>
        <p:nvSpPr>
          <p:cNvPr id="11" name="TextBox 10"/>
          <p:cNvSpPr txBox="1"/>
          <p:nvPr/>
        </p:nvSpPr>
        <p:spPr>
          <a:xfrm>
            <a:off x="685800" y="2569464"/>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Erreur format</a:t>
            </a:r>
          </a:p>
        </p:txBody>
      </p:sp>
      <p:sp>
        <p:nvSpPr>
          <p:cNvPr id="12" name="TextBox 11"/>
          <p:cNvSpPr txBox="1"/>
          <p:nvPr/>
        </p:nvSpPr>
        <p:spPr>
          <a:xfrm>
            <a:off x="685800" y="2770632"/>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Le node Analyser clause est servi par 2 sous-nodes : OpenAI Gateway (modèle) et Format JSON attendu (parser). On les voit aux slides suivantes.</a:t>
            </a:r>
          </a:p>
        </p:txBody>
      </p:sp>
      <p:sp>
        <p:nvSpPr>
          <p:cNvPr id="13" name="Rectangle 12"/>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5" name="TextBox 14"/>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 01</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Déclencheur Manuel · le point d'entrée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 workflow démarre toujours sur un événement. Aujourd'hui : vous appuyez sur Execute Workflow.</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Rôle</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Démarrer le run</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Pas de webhook, pas de cron, pas de signal externe. Un clic.</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Pourquoi pédagogique</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Apprenant en contrôle</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On sait exactement quand la chaîne démarre. Pas d'effet de bord.</a:t>
            </a:r>
          </a:p>
        </p:txBody>
      </p:sp>
      <p:sp>
        <p:nvSpPr>
          <p:cNvPr id="11" name="TextBox 10"/>
          <p:cNvSpPr txBox="1"/>
          <p:nvPr/>
        </p:nvSpPr>
        <p:spPr>
          <a:xfrm>
            <a:off x="685800" y="24597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Évolution</a:t>
            </a:r>
          </a:p>
        </p:txBody>
      </p:sp>
      <p:sp>
        <p:nvSpPr>
          <p:cNvPr id="12" name="TextBox 11"/>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Plus tard : webhook</a:t>
            </a:r>
          </a:p>
        </p:txBody>
      </p:sp>
      <p:sp>
        <p:nvSpPr>
          <p:cNvPr id="13" name="TextBox 12"/>
          <p:cNvSpPr txBox="1"/>
          <p:nvPr/>
        </p:nvSpPr>
        <p:spPr>
          <a:xfrm>
            <a:off x="685800" y="28254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Quand le workflow est mature, on déclenche sur fichier déposé, ou sur cron.</a:t>
            </a:r>
          </a:p>
        </p:txBody>
      </p:sp>
      <p:sp>
        <p:nvSpPr>
          <p:cNvPr id="14" name="TextBox 13"/>
          <p:cNvSpPr txBox="1"/>
          <p:nvPr/>
        </p:nvSpPr>
        <p:spPr>
          <a:xfrm>
            <a:off x="685800" y="30083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À retenir</a:t>
            </a:r>
          </a:p>
        </p:txBody>
      </p:sp>
      <p:sp>
        <p:nvSpPr>
          <p:cNvPr id="15" name="TextBox 14"/>
          <p:cNvSpPr txBox="1"/>
          <p:nvPr/>
        </p:nvSpPr>
        <p:spPr>
          <a:xfrm>
            <a:off x="685800" y="31729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Un workflow = un trigger</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Pas zéro, pas deux. Toujours un.</a:t>
            </a:r>
          </a:p>
        </p:txBody>
      </p:sp>
      <p:sp>
        <p:nvSpPr>
          <p:cNvPr id="17" name="TextBox 16"/>
          <p:cNvSpPr txBox="1"/>
          <p:nvPr/>
        </p:nvSpPr>
        <p:spPr>
          <a:xfrm>
            <a:off x="685800" y="355701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[n8n-nodes-base.manualTrigger] Déclencheur Manuel</a:t>
            </a:r>
          </a:p>
        </p:txBody>
      </p:sp>
      <p:sp>
        <p:nvSpPr>
          <p:cNvPr id="18" name="TextBox 17"/>
          <p:cNvSpPr txBox="1"/>
          <p:nvPr/>
        </p:nvSpPr>
        <p:spPr>
          <a:xfrm>
            <a:off x="685800" y="3758184"/>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Un workflow démarre toujours sur un événement. Aujourd'hui : vous appuyez sur Execute Workflow.</a:t>
            </a:r>
          </a:p>
        </p:txBody>
      </p:sp>
      <p:sp>
        <p:nvSpPr>
          <p:cNvPr id="19" name="Rectangle 18"/>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21" name="TextBox 20"/>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 02</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Contexte d'audit · préparer la donnée et la consigne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Erreur fréquente : modifier clause et oublier chatInput. Le modèle reçoit alors une consigne désynchronisée.</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Champ clause</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La donnée fictive à analyser</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Ce qu'on étudie. Modifié par l'apprenant pour tester plusieurs cas.</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Champ chatInput</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La consigne envoyée au modèle</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Inclut le rappel des contraintes RGPD et la demande de JSON.</a:t>
            </a:r>
          </a:p>
        </p:txBody>
      </p:sp>
      <p:sp>
        <p:nvSpPr>
          <p:cNvPr id="11" name="TextBox 10"/>
          <p:cNvSpPr txBox="1"/>
          <p:nvPr/>
        </p:nvSpPr>
        <p:spPr>
          <a:xfrm>
            <a:off x="685800" y="245973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[n8n-nodes-base.set] Contexte d'audit</a:t>
            </a:r>
          </a:p>
        </p:txBody>
      </p:sp>
      <p:sp>
        <p:nvSpPr>
          <p:cNvPr id="12" name="TextBox 11"/>
          <p:cNvSpPr txBox="1"/>
          <p:nvPr/>
        </p:nvSpPr>
        <p:spPr>
          <a:xfrm>
            <a:off x="685800" y="2660904"/>
            <a:ext cx="7772400" cy="301752"/>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Items en sortie { "clause": "Prime annuelle liée à la performance, calculée sur la rémunération brute…", "chatInput": "Analysez cette clause de paie et retournez un objet JSON conforme au schéma…", "rgpd_1": "Pas de PII réelle.", "rgpd_2": "Refus si source absente.", "rgpd_3": "5 champs JSON exigés." }</a:t>
            </a:r>
          </a:p>
        </p:txBody>
      </p:sp>
      <p:sp>
        <p:nvSpPr>
          <p:cNvPr id="13" name="TextBox 12"/>
          <p:cNvSpPr txBox="1"/>
          <p:nvPr/>
        </p:nvSpPr>
        <p:spPr>
          <a:xfrm>
            <a:off x="685800" y="291693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 Erreur fréquente : modifier clause et oublier chatInput. Le modèle reçoit alors une consigne désynchronisée.</a:t>
            </a:r>
          </a:p>
        </p:txBody>
      </p:sp>
      <p:sp>
        <p:nvSpPr>
          <p:cNvPr id="14" name="Rectangle 13"/>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6" name="TextBox 15"/>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 03</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Analyser clause · Basic LLM Chain, pas Agent</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Les agents arrivent au Jour 5 — quand on aura les outils à leur donner.</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 node parent reçoit chatInput et délègue à ses deux sous-nodes.</a:t>
            </a:r>
          </a:p>
        </p:txBody>
      </p:sp>
      <p:sp>
        <p:nvSpPr>
          <p:cNvPr id="6" name="TextBox 5"/>
          <p:cNvSpPr txBox="1"/>
          <p:nvPr/>
        </p:nvSpPr>
        <p:spPr>
          <a:xfrm>
            <a:off x="685800" y="1636776"/>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Pas un Agent — Un Agent sert quand… — …le modèle doit utiliser des outils (search, RAG, MCP), boucler, décider d'une action suivante. Trop puissant et trop opaque pour le Jour 1.</a:t>
            </a:r>
          </a:p>
        </p:txBody>
      </p:sp>
      <p:sp>
        <p:nvSpPr>
          <p:cNvPr id="7" name="TextBox 6"/>
          <p:cNvSpPr txBox="1"/>
          <p:nvPr/>
        </p:nvSpPr>
        <p:spPr>
          <a:xfrm>
            <a:off x="685800" y="1947672"/>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Basic LLM Chain — Une seule passe contrôlée — Prompt → modèle → réponse structurée. Pas de boucle, pas d'outil. Le bon niveau pour démarrer.</a:t>
            </a:r>
          </a:p>
        </p:txBody>
      </p:sp>
      <p:sp>
        <p:nvSpPr>
          <p:cNvPr id="8" name="TextBox 7"/>
          <p:cNvSpPr txBox="1"/>
          <p:nvPr/>
        </p:nvSpPr>
        <p:spPr>
          <a:xfrm>
            <a:off x="685800" y="2258568"/>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[langchain.chainLlm] Analyser clause</a:t>
            </a:r>
          </a:p>
        </p:txBody>
      </p:sp>
      <p:sp>
        <p:nvSpPr>
          <p:cNvPr id="9" name="TextBox 8"/>
          <p:cNvSpPr txBox="1"/>
          <p:nvPr/>
        </p:nvSpPr>
        <p:spPr>
          <a:xfrm>
            <a:off x="685800" y="245973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[ai_languageModel] OpenAI Gateway</a:t>
            </a:r>
          </a:p>
        </p:txBody>
      </p:sp>
      <p:sp>
        <p:nvSpPr>
          <p:cNvPr id="10" name="TextBox 9"/>
          <p:cNvSpPr txBox="1"/>
          <p:nvPr/>
        </p:nvSpPr>
        <p:spPr>
          <a:xfrm>
            <a:off x="685800" y="2660904"/>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[ai_outputParser] Format JSON attendu</a:t>
            </a:r>
          </a:p>
        </p:txBody>
      </p:sp>
      <p:sp>
        <p:nvSpPr>
          <p:cNvPr id="11" name="TextBox 10"/>
          <p:cNvSpPr txBox="1"/>
          <p:nvPr/>
        </p:nvSpPr>
        <p:spPr>
          <a:xfrm>
            <a:off x="685800" y="2862072"/>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Les agents arrivent au Jour 5 — quand on aura les outils à leur donner.</a:t>
            </a:r>
          </a:p>
        </p:txBody>
      </p:sp>
      <p:sp>
        <p:nvSpPr>
          <p:cNvPr id="12" name="Rectangle 11"/>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4" name="TextBox 13"/>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Sous-node · modèle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OpenAI Gateway · quel moteur ?</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On sépare deux responsabilités :</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Cette séparation permet de changer de modèle sans réécrire le prompt.</a:t>
            </a:r>
          </a:p>
        </p:txBody>
      </p:sp>
      <p:sp>
        <p:nvSpPr>
          <p:cNvPr id="6" name="TextBox 5"/>
          <p:cNvSpPr txBox="1"/>
          <p:nvPr/>
        </p:nvSpPr>
        <p:spPr>
          <a:xfrm>
            <a:off x="685800" y="16367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Type de node</a:t>
            </a:r>
          </a:p>
        </p:txBody>
      </p:sp>
      <p:sp>
        <p:nvSpPr>
          <p:cNvPr id="7" name="TextBox 6"/>
          <p:cNvSpPr txBox="1"/>
          <p:nvPr/>
        </p:nvSpPr>
        <p:spPr>
          <a:xfrm>
            <a:off x="685800" y="18013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OpenAI Chat Model</a:t>
            </a:r>
          </a:p>
        </p:txBody>
      </p:sp>
      <p:sp>
        <p:nvSpPr>
          <p:cNvPr id="8" name="TextBox 7"/>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Le sous-node modèle est branché en bas du node parent Analyser clause.</a:t>
            </a:r>
          </a:p>
        </p:txBody>
      </p:sp>
      <p:sp>
        <p:nvSpPr>
          <p:cNvPr id="9" name="TextBox 8"/>
          <p:cNvSpPr txBox="1"/>
          <p:nvPr/>
        </p:nvSpPr>
        <p:spPr>
          <a:xfrm>
            <a:off x="685800" y="21854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Modèle</a:t>
            </a:r>
          </a:p>
        </p:txBody>
      </p:sp>
      <p:sp>
        <p:nvSpPr>
          <p:cNvPr id="10" name="TextBox 9"/>
          <p:cNvSpPr txBox="1"/>
          <p:nvPr/>
        </p:nvSpPr>
        <p:spPr>
          <a:xfrm>
            <a:off x="685800" y="23500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gpt-4.1-nano</a:t>
            </a:r>
          </a:p>
        </p:txBody>
      </p:sp>
      <p:sp>
        <p:nvSpPr>
          <p:cNvPr id="11" name="TextBox 10"/>
          <p:cNvSpPr txBox="1"/>
          <p:nvPr/>
        </p:nvSpPr>
        <p:spPr>
          <a:xfrm>
            <a:off x="685800" y="25511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Via la gateway Liora : https://ai-gateway.liora.tech/v1</a:t>
            </a:r>
          </a:p>
        </p:txBody>
      </p:sp>
      <p:sp>
        <p:nvSpPr>
          <p:cNvPr id="12" name="TextBox 11"/>
          <p:cNvSpPr txBox="1"/>
          <p:nvPr/>
        </p:nvSpPr>
        <p:spPr>
          <a:xfrm>
            <a:off x="685800" y="27340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Paramètres</a:t>
            </a:r>
          </a:p>
        </p:txBody>
      </p:sp>
      <p:sp>
        <p:nvSpPr>
          <p:cNvPr id="13" name="TextBox 12"/>
          <p:cNvSpPr txBox="1"/>
          <p:nvPr/>
        </p:nvSpPr>
        <p:spPr>
          <a:xfrm>
            <a:off x="685800" y="28986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Température · 0 — Seed · fixé</a:t>
            </a:r>
          </a:p>
        </p:txBody>
      </p:sp>
      <p:sp>
        <p:nvSpPr>
          <p:cNvPr id="14" name="TextBox 13"/>
          <p:cNvSpPr txBox="1"/>
          <p:nvPr/>
        </p:nvSpPr>
        <p:spPr>
          <a:xfrm>
            <a:off x="685800" y="30998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Réglage de référence pour tous les workflows audit-grade.</a:t>
            </a:r>
          </a:p>
        </p:txBody>
      </p:sp>
      <p:sp>
        <p:nvSpPr>
          <p:cNvPr id="15" name="TextBox 14"/>
          <p:cNvSpPr txBox="1"/>
          <p:nvPr/>
        </p:nvSpPr>
        <p:spPr>
          <a:xfrm>
            <a:off x="685800" y="3282696"/>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Quoi faire — Basic LLM Chain — La tâche, le prompt, le format de sortie attendu.</a:t>
            </a:r>
          </a:p>
        </p:txBody>
      </p:sp>
      <p:sp>
        <p:nvSpPr>
          <p:cNvPr id="16" name="TextBox 15"/>
          <p:cNvSpPr txBox="1"/>
          <p:nvPr/>
        </p:nvSpPr>
        <p:spPr>
          <a:xfrm>
            <a:off x="685800" y="3593592"/>
            <a:ext cx="7772400" cy="356616"/>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Avec quoi le faire — OpenAI Chat Model — Le moteur d'inférence, le modèle, les paramètres.</a:t>
            </a:r>
          </a:p>
        </p:txBody>
      </p:sp>
      <p:sp>
        <p:nvSpPr>
          <p:cNvPr id="17" name="TextBox 16"/>
          <p:cNvSpPr txBox="1"/>
          <p:nvPr/>
        </p:nvSpPr>
        <p:spPr>
          <a:xfrm>
            <a:off x="685800" y="3904488"/>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Cette séparation permet de changer de modèle sans réécrire le prompt.</a:t>
            </a:r>
          </a:p>
        </p:txBody>
      </p:sp>
      <p:sp>
        <p:nvSpPr>
          <p:cNvPr id="18" name="Rectangle 17"/>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20" name="TextBox 19"/>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Sous-node · parser</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Structured Output Parser · le contrat JSON</a:t>
            </a:r>
          </a:p>
        </p:txBody>
      </p:sp>
      <p:sp>
        <p:nvSpPr>
          <p:cNvPr id="4" name="TextBox 3"/>
          <p:cNvSpPr txBox="1"/>
          <p:nvPr/>
        </p:nvSpPr>
        <p:spPr>
          <a:xfrm>
            <a:off x="685800" y="10881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Pourquoi</a:t>
            </a:r>
          </a:p>
        </p:txBody>
      </p:sp>
      <p:sp>
        <p:nvSpPr>
          <p:cNvPr id="5" name="TextBox 4"/>
          <p:cNvSpPr txBox="1"/>
          <p:nvPr/>
        </p:nvSpPr>
        <p:spPr>
          <a:xfrm>
            <a:off x="685800" y="12527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 prompt seul ne suffit pas</a:t>
            </a:r>
          </a:p>
        </p:txBody>
      </p:sp>
      <p:sp>
        <p:nvSpPr>
          <p:cNvPr id="6" name="TextBox 5"/>
          <p:cNvSpPr txBox="1"/>
          <p:nvPr/>
        </p:nvSpPr>
        <p:spPr>
          <a:xfrm>
            <a:off x="685800" y="14538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Sans parser, le modèle peut retomber sur du texte libre. Le parser force la structure et lève une erreur si elle est cassée.</a:t>
            </a:r>
          </a:p>
        </p:txBody>
      </p:sp>
      <p:sp>
        <p:nvSpPr>
          <p:cNvPr id="7" name="TextBox 6"/>
          <p:cNvSpPr txBox="1"/>
          <p:nvPr/>
        </p:nvSpPr>
        <p:spPr>
          <a:xfrm>
            <a:off x="685800" y="163677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 Piège</a:t>
            </a:r>
          </a:p>
        </p:txBody>
      </p:sp>
      <p:sp>
        <p:nvSpPr>
          <p:cNvPr id="8" name="TextBox 7"/>
          <p:cNvSpPr txBox="1"/>
          <p:nvPr/>
        </p:nvSpPr>
        <p:spPr>
          <a:xfrm>
            <a:off x="685800" y="1801367"/>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Require Specific Output Format</a:t>
            </a:r>
          </a:p>
        </p:txBody>
      </p:sp>
      <p:sp>
        <p:nvSpPr>
          <p:cNvPr id="9" name="TextBox 8"/>
          <p:cNvSpPr txBox="1"/>
          <p:nvPr/>
        </p:nvSpPr>
        <p:spPr>
          <a:xfrm>
            <a:off x="685800" y="20025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À activer sur le node parent (Basic LLM Chain). Si ce switch est désactivé, le parser est ignoré silencieusement.</a:t>
            </a:r>
          </a:p>
        </p:txBody>
      </p:sp>
      <p:sp>
        <p:nvSpPr>
          <p:cNvPr id="10" name="TextBox 9"/>
          <p:cNvSpPr txBox="1"/>
          <p:nvPr/>
        </p:nvSpPr>
        <p:spPr>
          <a:xfrm>
            <a:off x="685800" y="2185416"/>
            <a:ext cx="7772400" cy="301752"/>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Exemple JSON collé dans le parser { "lecture_metier": "résumé métier court", "risques_audit": [ "risque 1", "risque 2" ], "questions_de_controle": [ {"question": "question à poser"} ], "anonymisation_requise": false, "niveau_sensibilite": "Moyen" }</a:t>
            </a:r>
          </a:p>
        </p:txBody>
      </p:sp>
      <p:sp>
        <p:nvSpPr>
          <p:cNvPr id="11" name="Rectangle 1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3" name="TextBox 1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 04</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Extraire champs · rendre la sortie lisible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Pas de transformation, juste un dépliage. Mais il sert deux fois : clarté pédagogique et facilité de référence pour les nodes suivants.</a:t>
            </a:r>
          </a:p>
        </p:txBody>
      </p:sp>
      <p:sp>
        <p:nvSpPr>
          <p:cNvPr id="5" name="TextBox 4"/>
          <p:cNvSpPr txBox="1"/>
          <p:nvPr/>
        </p:nvSpPr>
        <p:spPr>
          <a:xfrm>
            <a:off x="685800" y="136245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 Chaque champ devient adressable directement, sans aller fouiller dans $json.output.</a:t>
            </a:r>
          </a:p>
        </p:txBody>
      </p:sp>
      <p:sp>
        <p:nvSpPr>
          <p:cNvPr id="6" name="TextBox 5"/>
          <p:cNvSpPr txBox="1"/>
          <p:nvPr/>
        </p:nvSpPr>
        <p:spPr>
          <a:xfrm>
            <a:off x="685800" y="163677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TABLEAU :</a:t>
            </a:r>
          </a:p>
        </p:txBody>
      </p:sp>
      <p:sp>
        <p:nvSpPr>
          <p:cNvPr id="7" name="TextBox 6"/>
          <p:cNvSpPr txBox="1"/>
          <p:nvPr/>
        </p:nvSpPr>
        <p:spPr>
          <a:xfrm>
            <a:off x="685800" y="181965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Champ extrait  Expression n8n</a:t>
            </a:r>
          </a:p>
        </p:txBody>
      </p:sp>
      <p:sp>
        <p:nvSpPr>
          <p:cNvPr id="8" name="TextBox 7"/>
          <p:cNvSpPr txBox="1"/>
          <p:nvPr/>
        </p:nvSpPr>
        <p:spPr>
          <a:xfrm>
            <a:off x="685800" y="202082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lecture_metier  {{ $json.output.lecture_metier }}</a:t>
            </a:r>
          </a:p>
        </p:txBody>
      </p:sp>
      <p:sp>
        <p:nvSpPr>
          <p:cNvPr id="9" name="TextBox 8"/>
          <p:cNvSpPr txBox="1"/>
          <p:nvPr/>
        </p:nvSpPr>
        <p:spPr>
          <a:xfrm>
            <a:off x="685800" y="2221992"/>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risques_audit  {{ $json.output.risques_audit }}</a:t>
            </a:r>
          </a:p>
        </p:txBody>
      </p:sp>
      <p:sp>
        <p:nvSpPr>
          <p:cNvPr id="10" name="TextBox 9"/>
          <p:cNvSpPr txBox="1"/>
          <p:nvPr/>
        </p:nvSpPr>
        <p:spPr>
          <a:xfrm>
            <a:off x="685800" y="2423160"/>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questions_de_controle  {{ $json.output.questions_de_controle }}</a:t>
            </a:r>
          </a:p>
        </p:txBody>
      </p:sp>
      <p:sp>
        <p:nvSpPr>
          <p:cNvPr id="11" name="TextBox 10"/>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anonymisation_requise  {{ $json.output.anonymisation_requise }}</a:t>
            </a:r>
          </a:p>
        </p:txBody>
      </p:sp>
      <p:sp>
        <p:nvSpPr>
          <p:cNvPr id="12" name="TextBox 11"/>
          <p:cNvSpPr txBox="1"/>
          <p:nvPr/>
        </p:nvSpPr>
        <p:spPr>
          <a:xfrm>
            <a:off x="685800" y="282549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niveau_sensibilite  {{ $json.output.niveau_sensibilite }}</a:t>
            </a:r>
          </a:p>
        </p:txBody>
      </p:sp>
      <p:sp>
        <p:nvSpPr>
          <p:cNvPr id="13" name="TextBox 12"/>
          <p:cNvSpPr txBox="1"/>
          <p:nvPr/>
        </p:nvSpPr>
        <p:spPr>
          <a:xfrm>
            <a:off x="685800" y="302666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clause_analysee  {{ $('Contexte d\\'audit').item.json.clause }}</a:t>
            </a:r>
          </a:p>
        </p:txBody>
      </p:sp>
      <p:sp>
        <p:nvSpPr>
          <p:cNvPr id="14" name="TextBox 13"/>
          <p:cNvSpPr txBox="1"/>
          <p:nvPr/>
        </p:nvSpPr>
        <p:spPr>
          <a:xfrm>
            <a:off x="685800" y="3227832"/>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[n8n-nodes-base.set] Extraire champs</a:t>
            </a:r>
          </a:p>
        </p:txBody>
      </p:sp>
      <p:sp>
        <p:nvSpPr>
          <p:cNvPr id="15" name="TextBox 14"/>
          <p:cNvSpPr txBox="1"/>
          <p:nvPr/>
        </p:nvSpPr>
        <p:spPr>
          <a:xfrm>
            <a:off x="685800" y="3429000"/>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Pas de transformation, juste un dépliage. Mais il sert deux fois : clarté pédagogique et facilité de référence pour les nodes suivants.</a:t>
            </a:r>
          </a:p>
        </p:txBody>
      </p:sp>
      <p:sp>
        <p:nvSpPr>
          <p:cNvPr id="16" name="Rectangle 1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8" name="TextBox 1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 05</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Sensibilité valide ? · première règle d'audit automatisée</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La condition :</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Sémantique d'audit</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On ne fait pas confiance, on vérifie.</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La réponse IA n'est pas acceptée telle quelle. Une règle métier la valide.</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Sémantique technique</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Énum strict, sans accent.</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Élevé » ou « eleve » échouent. Le contrat est explicite — pas de tolérance.</a:t>
            </a:r>
          </a:p>
        </p:txBody>
      </p:sp>
      <p:sp>
        <p:nvSpPr>
          <p:cNvPr id="11" name="TextBox 10"/>
          <p:cNvSpPr txBox="1"/>
          <p:nvPr/>
        </p:nvSpPr>
        <p:spPr>
          <a:xfrm>
            <a:off x="685800" y="2459736"/>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[n8n-nodes-base.if] Sensibilité valide ?</a:t>
            </a:r>
          </a:p>
        </p:txBody>
      </p:sp>
      <p:sp>
        <p:nvSpPr>
          <p:cNvPr id="12" name="TextBox 11"/>
          <p:cNvSpPr txBox="1"/>
          <p:nvPr/>
        </p:nvSpPr>
        <p:spPr>
          <a:xfrm>
            <a:off x="685800" y="2660904"/>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Résultat OK</a:t>
            </a:r>
          </a:p>
        </p:txBody>
      </p:sp>
      <p:sp>
        <p:nvSpPr>
          <p:cNvPr id="13" name="TextBox 12"/>
          <p:cNvSpPr txBox="1"/>
          <p:nvPr/>
        </p:nvSpPr>
        <p:spPr>
          <a:xfrm>
            <a:off x="685800" y="2862072"/>
            <a:ext cx="7772400" cy="246888"/>
          </a:xfrm>
          <a:prstGeom prst="rect">
            <a:avLst/>
          </a:prstGeom>
          <a:noFill/>
        </p:spPr>
        <p:txBody>
          <a:bodyPr wrap="square">
            <a:spAutoFit/>
          </a:bodyPr>
          <a:lstStyle/>
          <a:p>
            <a:pPr algn="l">
              <a:spcBef>
                <a:spcPts val="0"/>
              </a:spcBef>
              <a:spcAft>
                <a:spcPts val="200"/>
              </a:spcAft>
            </a:pPr>
            <a:r>
              <a:rPr sz="1300" b="0" i="0">
                <a:ea typeface="JetBrains Mono"/>
                <a:solidFill>
                  <a:srgbClr val="121228"/>
                </a:solidFill>
                <a:latin typeface="JetBrains Mono"/>
              </a:rPr>
              <a:t>[Set] Erreur format</a:t>
            </a:r>
          </a:p>
        </p:txBody>
      </p:sp>
      <p:sp>
        <p:nvSpPr>
          <p:cNvPr id="14" name="Rectangle 13"/>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6" name="TextBox 15"/>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Nodes 06 &amp;amp; 07</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Deux issues claires — pas d'ambiguïté</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L'erreur est une preuve que la chaîne fonctionne. La masquer avec continueOnFail, c'est saboter l'audit.</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Branche True · Résultat OK</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 workflow marque le succès</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Ajoute validation_format = "ok" et conserve l'objet structuré. Le node suivant pourra consommer en confiance.</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Branche False · Erreur format</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Le workflow explique l'échec</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Message d'erreur explicite, citant la valeur reçue et celle attendue. On ne masque pas l'erreur.</a:t>
            </a:r>
          </a:p>
        </p:txBody>
      </p:sp>
      <p:sp>
        <p:nvSpPr>
          <p:cNvPr id="11" name="TextBox 10"/>
          <p:cNvSpPr txBox="1"/>
          <p:nvPr/>
        </p:nvSpPr>
        <p:spPr>
          <a:xfrm>
            <a:off x="685800" y="2459736"/>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 "validation_format": "ok" }</a:t>
            </a:r>
          </a:p>
        </p:txBody>
      </p:sp>
      <p:sp>
        <p:nvSpPr>
          <p:cNvPr id="12" name="TextBox 11"/>
          <p:cNvSpPr txBox="1"/>
          <p:nvPr/>
        </p:nvSpPr>
        <p:spPr>
          <a:xfrm>
            <a:off x="685800" y="2697480"/>
            <a:ext cx="7772400" cy="283464"/>
          </a:xfrm>
          <a:prstGeom prst="rect">
            <a:avLst/>
          </a:prstGeom>
          <a:noFill/>
        </p:spPr>
        <p:txBody>
          <a:bodyPr wrap="square">
            <a:spAutoFit/>
          </a:bodyPr>
          <a:lstStyle/>
          <a:p>
            <a:pPr algn="l">
              <a:spcBef>
                <a:spcPts val="0"/>
              </a:spcBef>
              <a:spcAft>
                <a:spcPts val="200"/>
              </a:spcAft>
            </a:pPr>
            <a:r>
              <a:rPr sz="1100" b="0" i="0">
                <a:ea typeface="JetBrains Mono"/>
                <a:solidFill>
                  <a:srgbClr val="121228"/>
                </a:solidFill>
                <a:latin typeface="JetBrains Mono"/>
              </a:rPr>
              <a:t>niveau_sensibilite invalide : "Important" attendu : Faible · Moyen · Eleve</a:t>
            </a:r>
          </a:p>
        </p:txBody>
      </p:sp>
      <p:sp>
        <p:nvSpPr>
          <p:cNvPr id="13" name="TextBox 12"/>
          <p:cNvSpPr txBox="1"/>
          <p:nvPr/>
        </p:nvSpPr>
        <p:spPr>
          <a:xfrm>
            <a:off x="685800" y="2935224"/>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L'erreur est une preuve que la chaîne fonctionne. La masquer avec continueOnFail, c'est saboter l'audit.</a:t>
            </a:r>
          </a:p>
        </p:txBody>
      </p:sp>
      <p:sp>
        <p:nvSpPr>
          <p:cNvPr id="14" name="Rectangle 13"/>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6" name="TextBox 15"/>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06 · Démo</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4 clauses à tester ensemble</a:t>
            </a:r>
          </a:p>
        </p:txBody>
      </p:sp>
      <p:sp>
        <p:nvSpPr>
          <p:cNvPr id="4" name="TextBox 3"/>
          <p:cNvSpPr txBox="1"/>
          <p:nvPr/>
        </p:nvSpPr>
        <p:spPr>
          <a:xfrm>
            <a:off x="685800" y="108813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TABLEAU :</a:t>
            </a:r>
          </a:p>
        </p:txBody>
      </p:sp>
      <p:sp>
        <p:nvSpPr>
          <p:cNvPr id="5" name="TextBox 4"/>
          <p:cNvSpPr txBox="1"/>
          <p:nvPr/>
        </p:nvSpPr>
        <p:spPr>
          <a:xfrm>
            <a:off x="685800" y="127101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Clause  Sensibilité attendue  Observation</a:t>
            </a:r>
          </a:p>
        </p:txBody>
      </p:sp>
      <p:sp>
        <p:nvSpPr>
          <p:cNvPr id="6" name="TextBox 5"/>
          <p:cNvSpPr txBox="1"/>
          <p:nvPr/>
        </p:nvSpPr>
        <p:spPr>
          <a:xfrm>
            <a:off x="685800" y="147218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01  Prime annuelle liée à la performance  Moyen  Critères, exclusions, URSSAF — questions de contrôle nettes.</a:t>
            </a:r>
          </a:p>
        </p:txBody>
      </p:sp>
      <p:sp>
        <p:nvSpPr>
          <p:cNvPr id="7" name="TextBox 6"/>
          <p:cNvSpPr txBox="1"/>
          <p:nvPr/>
        </p:nvSpPr>
        <p:spPr>
          <a:xfrm>
            <a:off x="685800" y="1673351"/>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02  Clause de non-concurrence rémunérée  Eleve  Durée, périmètre géographique, contrepartie financière.</a:t>
            </a:r>
          </a:p>
        </p:txBody>
      </p:sp>
      <p:sp>
        <p:nvSpPr>
          <p:cNvPr id="8" name="TextBox 7"/>
          <p:cNvSpPr txBox="1"/>
          <p:nvPr/>
        </p:nvSpPr>
        <p:spPr>
          <a:xfrm>
            <a:off x="685800" y="1874519"/>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03  Majoration pour travail de nuit  Moyen  Taux, plages horaires, convention collective.</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04  « Prime exceptionnelle selon décision de la direction »  ?  Le modèle doit poser des questions au lieu d'inventer.</a:t>
            </a:r>
          </a:p>
        </p:txBody>
      </p:sp>
      <p:sp>
        <p:nvSpPr>
          <p:cNvPr id="10" name="Rectangle 9"/>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06 · Workflow</a:t>
            </a:r>
          </a:p>
        </p:txBody>
      </p:sp>
      <p:sp>
        <p:nvSpPr>
          <p:cNvPr id="12" name="TextBox 11"/>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07</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07 · 45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Prompt, RAG ou fine-tuning ?</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Trois outils, trois problèmes différents. Choisir le bon évite des semaines de travail inutile.</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44 Section 07 — Décision</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07 · Décision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L'arbre de décision · 3 questions</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Une seule règle : on n'engage pas l'option de droite tant que celle de gauche n'a pas été épuisée. Prompt d'abord, toujours.</a:t>
            </a:r>
          </a:p>
        </p:txBody>
      </p:sp>
      <p:sp>
        <p:nvSpPr>
          <p:cNvPr id="5" name="TextBox 4"/>
          <p:cNvSpPr txBox="1"/>
          <p:nvPr/>
        </p:nvSpPr>
        <p:spPr>
          <a:xfrm>
            <a:off x="685800" y="136245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Une seule règle : on n'engage pas l'option de droite tant que celle de gauche n'a pas été épuisée. Prompt d'abord, toujours.</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07 · Décision</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07 · Détail</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Quand chacun est le bon outil</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Avant de fine-tuner : avez-vous épuisé Prompt ET RAG ? Sinon, ce n'est pas l'outil.</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Niveau 1 · PROMPT</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Tâche bien décrite, connaissance généraliste</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Extraire des champs d'une clause.→ Synthétiser un constat.→ Reformuler en langage métier.</a:t>
            </a:r>
          </a:p>
        </p:txBody>
      </p:sp>
      <p:sp>
        <p:nvSpPr>
          <p:cNvPr id="8" name="TextBox 7"/>
          <p:cNvSpPr txBox="1"/>
          <p:nvPr/>
        </p:nvSpPr>
        <p:spPr>
          <a:xfrm>
            <a:off x="685800" y="1911095"/>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90 % des cas en audit démarrent ici.</a:t>
            </a:r>
          </a:p>
        </p:txBody>
      </p:sp>
      <p:sp>
        <p:nvSpPr>
          <p:cNvPr id="9" name="TextBox 8"/>
          <p:cNvSpPr txBox="1"/>
          <p:nvPr/>
        </p:nvSpPr>
        <p:spPr>
          <a:xfrm>
            <a:off x="685800" y="20939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Niveau 2 · RAG</a:t>
            </a:r>
          </a:p>
        </p:txBody>
      </p:sp>
      <p:sp>
        <p:nvSpPr>
          <p:cNvPr id="10" name="TextBox 9"/>
          <p:cNvSpPr txBox="1"/>
          <p:nvPr/>
        </p:nvSpPr>
        <p:spPr>
          <a:xfrm>
            <a:off x="685800" y="22585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Connaissance dans des documents</a:t>
            </a:r>
          </a:p>
        </p:txBody>
      </p:sp>
      <p:sp>
        <p:nvSpPr>
          <p:cNvPr id="11" name="TextBox 10"/>
          <p:cNvSpPr txBox="1"/>
          <p:nvPr/>
        </p:nvSpPr>
        <p:spPr>
          <a:xfrm>
            <a:off x="685800" y="24597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Justifier un contrôle avec source URSSAF.→ Trouver le texte AGIRC-ARRCO applicable.→ Citer une note méthodo interne.</a:t>
            </a:r>
          </a:p>
        </p:txBody>
      </p:sp>
      <p:sp>
        <p:nvSpPr>
          <p:cNvPr id="12" name="TextBox 11"/>
          <p:cNvSpPr txBox="1"/>
          <p:nvPr/>
        </p:nvSpPr>
        <p:spPr>
          <a:xfrm>
            <a:off x="685800" y="26426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On y revient au Jour 4.</a:t>
            </a:r>
          </a:p>
        </p:txBody>
      </p:sp>
      <p:sp>
        <p:nvSpPr>
          <p:cNvPr id="13" name="TextBox 12"/>
          <p:cNvSpPr txBox="1"/>
          <p:nvPr/>
        </p:nvSpPr>
        <p:spPr>
          <a:xfrm>
            <a:off x="685800" y="282549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Niveau 3 · FINE-TUNING</a:t>
            </a:r>
          </a:p>
        </p:txBody>
      </p:sp>
      <p:sp>
        <p:nvSpPr>
          <p:cNvPr id="14" name="TextBox 13"/>
          <p:cNvSpPr txBox="1"/>
          <p:nvPr/>
        </p:nvSpPr>
        <p:spPr>
          <a:xfrm>
            <a:off x="685800" y="29900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Comportement profond à modifier</a:t>
            </a:r>
          </a:p>
        </p:txBody>
      </p:sp>
      <p:sp>
        <p:nvSpPr>
          <p:cNvPr id="15" name="TextBox 14"/>
          <p:cNvSpPr txBox="1"/>
          <p:nvPr/>
        </p:nvSpPr>
        <p:spPr>
          <a:xfrm>
            <a:off x="685800" y="31912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 Style très spécifique.→ Format propriétaire.→ Vocabulaire métier rare.</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Rarement justifié. Coûteux, fragile, à maintenir.</a:t>
            </a:r>
          </a:p>
        </p:txBody>
      </p:sp>
      <p:sp>
        <p:nvSpPr>
          <p:cNvPr id="17" name="TextBox 16"/>
          <p:cNvSpPr txBox="1"/>
          <p:nvPr/>
        </p:nvSpPr>
        <p:spPr>
          <a:xfrm>
            <a:off x="685800" y="355701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Avant de fine-tuner : avez-vous épuisé Prompt ET RAG ? Sinon, ce n'est pas l'outil.</a:t>
            </a:r>
          </a:p>
        </p:txBody>
      </p:sp>
      <p:sp>
        <p:nvSpPr>
          <p:cNvPr id="18" name="Rectangle 17"/>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07 · Décision</a:t>
            </a:r>
          </a:p>
        </p:txBody>
      </p:sp>
      <p:sp>
        <p:nvSpPr>
          <p:cNvPr id="20" name="TextBox 19"/>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07 · Économie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Ce que chaque option coûte vraiment</a:t>
            </a:r>
          </a:p>
        </p:txBody>
      </p:sp>
      <p:sp>
        <p:nvSpPr>
          <p:cNvPr id="4" name="TextBox 3"/>
          <p:cNvSpPr txBox="1"/>
          <p:nvPr/>
        </p:nvSpPr>
        <p:spPr>
          <a:xfrm>
            <a:off x="685800" y="1088136"/>
            <a:ext cx="7772400" cy="182880"/>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TABLEAU :</a:t>
            </a:r>
          </a:p>
        </p:txBody>
      </p:sp>
      <p:sp>
        <p:nvSpPr>
          <p:cNvPr id="5" name="TextBox 4"/>
          <p:cNvSpPr txBox="1"/>
          <p:nvPr/>
        </p:nvSpPr>
        <p:spPr>
          <a:xfrm>
            <a:off x="685800" y="1271016"/>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  Mise en place  Maintenance  Latence  Réversibilité  Risque</a:t>
            </a:r>
          </a:p>
        </p:txBody>
      </p:sp>
      <p:sp>
        <p:nvSpPr>
          <p:cNvPr id="6" name="TextBox 5"/>
          <p:cNvSpPr txBox="1"/>
          <p:nvPr/>
        </p:nvSpPr>
        <p:spPr>
          <a:xfrm>
            <a:off x="685800" y="1472184"/>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Prompt  Jours  Triviale  ~1 s  Totale  Hallucination</a:t>
            </a:r>
          </a:p>
        </p:txBody>
      </p:sp>
      <p:sp>
        <p:nvSpPr>
          <p:cNvPr id="7" name="TextBox 6"/>
          <p:cNvSpPr txBox="1"/>
          <p:nvPr/>
        </p:nvSpPr>
        <p:spPr>
          <a:xfrm>
            <a:off x="685800" y="1673351"/>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RAG  Semaines  Moyenne  ~3 s  Bonne  Mauvais retrieval</a:t>
            </a:r>
          </a:p>
        </p:txBody>
      </p:sp>
      <p:sp>
        <p:nvSpPr>
          <p:cNvPr id="8" name="TextBox 7"/>
          <p:cNvSpPr txBox="1"/>
          <p:nvPr/>
        </p:nvSpPr>
        <p:spPr>
          <a:xfrm>
            <a:off x="685800" y="1874519"/>
            <a:ext cx="7772400" cy="246888"/>
          </a:xfrm>
          <a:prstGeom prst="rect">
            <a:avLst/>
          </a:prstGeom>
          <a:noFill/>
        </p:spPr>
        <p:txBody>
          <a:bodyPr wrap="square">
            <a:spAutoFit/>
          </a:bodyPr>
          <a:lstStyle/>
          <a:p>
            <a:pPr algn="l">
              <a:spcBef>
                <a:spcPts val="0"/>
              </a:spcBef>
              <a:spcAft>
                <a:spcPts val="200"/>
              </a:spcAft>
            </a:pPr>
            <a:r>
              <a:rPr sz="1300" b="0" i="0">
                <a:ea typeface="Inter"/>
                <a:solidFill>
                  <a:srgbClr val="121228"/>
                </a:solidFill>
                <a:latin typeface="Inter"/>
              </a:rPr>
              <a:t>Fine-tuning  Mois  Lourde  ~1 s  Faible (versions)  Drift, biais latents</a:t>
            </a:r>
          </a:p>
        </p:txBody>
      </p:sp>
      <p:sp>
        <p:nvSpPr>
          <p:cNvPr id="9" name="Rectangle 8"/>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07 · Décision</a:t>
            </a:r>
          </a:p>
        </p:txBody>
      </p:sp>
      <p:sp>
        <p:nvSpPr>
          <p:cNvPr id="11" name="TextBox 10"/>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554480"/>
            <a:ext cx="7315200" cy="457200"/>
          </a:xfrm>
          <a:prstGeom prst="rect">
            <a:avLst/>
          </a:prstGeom>
          <a:noFill/>
        </p:spPr>
        <p:txBody>
          <a:bodyPr wrap="square">
            <a:spAutoFit/>
          </a:bodyPr>
          <a:lstStyle/>
          <a:p>
            <a:pPr algn="l">
              <a:spcBef>
                <a:spcPts val="0"/>
              </a:spcBef>
              <a:spcAft>
                <a:spcPts val="200"/>
              </a:spcAft>
            </a:pPr>
            <a:r>
              <a:rPr sz="4800" b="1" i="0">
                <a:ea typeface="Work Sans"/>
                <a:solidFill>
                  <a:srgbClr val="FF6745"/>
                </a:solidFill>
                <a:latin typeface="Work Sans"/>
              </a:rPr>
              <a:t>08</a:t>
            </a:r>
          </a:p>
        </p:txBody>
      </p:sp>
      <p:sp>
        <p:nvSpPr>
          <p:cNvPr id="3" name="TextBox 2"/>
          <p:cNvSpPr txBox="1"/>
          <p:nvPr/>
        </p:nvSpPr>
        <p:spPr>
          <a:xfrm>
            <a:off x="914400" y="2103120"/>
            <a:ext cx="7315200" cy="274320"/>
          </a:xfrm>
          <a:prstGeom prst="rect">
            <a:avLst/>
          </a:prstGeom>
          <a:noFill/>
        </p:spPr>
        <p:txBody>
          <a:bodyPr wrap="square">
            <a:spAutoFit/>
          </a:bodyPr>
          <a:lstStyle/>
          <a:p>
            <a:pPr algn="l">
              <a:spcBef>
                <a:spcPts val="0"/>
              </a:spcBef>
              <a:spcAft>
                <a:spcPts val="200"/>
              </a:spcAft>
            </a:pPr>
            <a:r>
              <a:rPr sz="1300" b="1" i="0">
                <a:ea typeface="Inter"/>
                <a:solidFill>
                  <a:srgbClr val="FF6745"/>
                </a:solidFill>
                <a:latin typeface="Inter"/>
              </a:rPr>
              <a:t>Section 08 · 30 min</a:t>
            </a:r>
          </a:p>
        </p:txBody>
      </p:sp>
      <p:sp>
        <p:nvSpPr>
          <p:cNvPr id="4" name="TextBox 3"/>
          <p:cNvSpPr txBox="1"/>
          <p:nvPr/>
        </p:nvSpPr>
        <p:spPr>
          <a:xfrm>
            <a:off x="914400" y="2377440"/>
            <a:ext cx="7315200" cy="731520"/>
          </a:xfrm>
          <a:prstGeom prst="rect">
            <a:avLst/>
          </a:prstGeom>
          <a:noFill/>
        </p:spPr>
        <p:txBody>
          <a:bodyPr wrap="square">
            <a:spAutoFit/>
          </a:bodyPr>
          <a:lstStyle/>
          <a:p>
            <a:pPr algn="l">
              <a:spcBef>
                <a:spcPts val="0"/>
              </a:spcBef>
              <a:spcAft>
                <a:spcPts val="200"/>
              </a:spcAft>
            </a:pPr>
            <a:r>
              <a:rPr sz="3400" b="1" i="0">
                <a:ea typeface="Work Sans"/>
                <a:solidFill>
                  <a:srgbClr val="FFFFFF"/>
                </a:solidFill>
                <a:latin typeface="Work Sans"/>
              </a:rPr>
              <a:t>Synthèse &amp; Jour 2.</a:t>
            </a:r>
          </a:p>
        </p:txBody>
      </p:sp>
      <p:sp>
        <p:nvSpPr>
          <p:cNvPr id="5" name="TextBox 4"/>
          <p:cNvSpPr txBox="1"/>
          <p:nvPr/>
        </p:nvSpPr>
        <p:spPr>
          <a:xfrm>
            <a:off x="914400" y="3200400"/>
            <a:ext cx="7315200" cy="548640"/>
          </a:xfrm>
          <a:prstGeom prst="rect">
            <a:avLst/>
          </a:prstGeom>
          <a:noFill/>
        </p:spPr>
        <p:txBody>
          <a:bodyPr wrap="square">
            <a:spAutoFit/>
          </a:bodyPr>
          <a:lstStyle/>
          <a:p>
            <a:pPr algn="l">
              <a:spcBef>
                <a:spcPts val="0"/>
              </a:spcBef>
              <a:spcAft>
                <a:spcPts val="200"/>
              </a:spcAft>
            </a:pPr>
            <a:r>
              <a:rPr sz="1800" b="0" i="0">
                <a:ea typeface="Inter"/>
                <a:solidFill>
                  <a:srgbClr val="8A8A99"/>
                </a:solidFill>
                <a:latin typeface="Inter"/>
              </a:rPr>
              <a:t>Ce qu'on emporte. Ce qui arrive demain. Ce qu'il faut préparer.</a:t>
            </a:r>
          </a:p>
        </p:txBody>
      </p:sp>
      <p:sp>
        <p:nvSpPr>
          <p:cNvPr id="6" name="Rectangle 5"/>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48 Section 08 — Synthèse</a:t>
            </a:r>
          </a:p>
        </p:txBody>
      </p:sp>
      <p:sp>
        <p:nvSpPr>
          <p:cNvPr id="8" name="TextBox 7"/>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08 · Synthèse</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Les 5 livrables du Jour 1</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Si un livrable manque, on le revoit avant la fin de session. Pas demain matin — maintenant.</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01</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Checklist prompt audit-grade</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Les 5 blocs obligatoires. À épingler au-dessus du clavier.</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02</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Mini-charte PII/logs</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4 règles, 1 page. Validée par le responsable de mission.</a:t>
            </a:r>
          </a:p>
        </p:txBody>
      </p:sp>
      <p:sp>
        <p:nvSpPr>
          <p:cNvPr id="11" name="TextBox 10"/>
          <p:cNvSpPr txBox="1"/>
          <p:nvPr/>
        </p:nvSpPr>
        <p:spPr>
          <a:xfrm>
            <a:off x="685800" y="245973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03</a:t>
            </a:r>
          </a:p>
        </p:txBody>
      </p:sp>
      <p:sp>
        <p:nvSpPr>
          <p:cNvPr id="12" name="TextBox 11"/>
          <p:cNvSpPr txBox="1"/>
          <p:nvPr/>
        </p:nvSpPr>
        <p:spPr>
          <a:xfrm>
            <a:off x="685800" y="262432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Template rapport v0</a:t>
            </a:r>
          </a:p>
        </p:txBody>
      </p:sp>
      <p:sp>
        <p:nvSpPr>
          <p:cNvPr id="13" name="TextBox 12"/>
          <p:cNvSpPr txBox="1"/>
          <p:nvPr/>
        </p:nvSpPr>
        <p:spPr>
          <a:xfrm>
            <a:off x="685800" y="282549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Squelette JSON pour structurer la sortie LLM.</a:t>
            </a:r>
          </a:p>
        </p:txBody>
      </p:sp>
      <p:sp>
        <p:nvSpPr>
          <p:cNvPr id="14" name="TextBox 13"/>
          <p:cNvSpPr txBox="1"/>
          <p:nvPr/>
        </p:nvSpPr>
        <p:spPr>
          <a:xfrm>
            <a:off x="685800" y="300837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04</a:t>
            </a:r>
          </a:p>
        </p:txBody>
      </p:sp>
      <p:sp>
        <p:nvSpPr>
          <p:cNvPr id="15" name="TextBox 14"/>
          <p:cNvSpPr txBox="1"/>
          <p:nvPr/>
        </p:nvSpPr>
        <p:spPr>
          <a:xfrm>
            <a:off x="685800" y="317296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Arbre prompt/RAG/FT</a:t>
            </a:r>
          </a:p>
        </p:txBody>
      </p:sp>
      <p:sp>
        <p:nvSpPr>
          <p:cNvPr id="16" name="TextBox 15"/>
          <p:cNvSpPr txBox="1"/>
          <p:nvPr/>
        </p:nvSpPr>
        <p:spPr>
          <a:xfrm>
            <a:off x="685800" y="337413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Diagramme de décision, prêt à l'emploi.</a:t>
            </a:r>
          </a:p>
        </p:txBody>
      </p:sp>
      <p:sp>
        <p:nvSpPr>
          <p:cNvPr id="17" name="TextBox 16"/>
          <p:cNvSpPr txBox="1"/>
          <p:nvPr/>
        </p:nvSpPr>
        <p:spPr>
          <a:xfrm>
            <a:off x="685800" y="355701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05</a:t>
            </a:r>
          </a:p>
        </p:txBody>
      </p:sp>
      <p:sp>
        <p:nvSpPr>
          <p:cNvPr id="18" name="TextBox 17"/>
          <p:cNvSpPr txBox="1"/>
          <p:nvPr/>
        </p:nvSpPr>
        <p:spPr>
          <a:xfrm>
            <a:off x="685800" y="372160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Workflow J1 dans n8n</a:t>
            </a:r>
          </a:p>
        </p:txBody>
      </p:sp>
      <p:sp>
        <p:nvSpPr>
          <p:cNvPr id="19" name="TextBox 18"/>
          <p:cNvSpPr txBox="1"/>
          <p:nvPr/>
        </p:nvSpPr>
        <p:spPr>
          <a:xfrm>
            <a:off x="685800" y="392277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Exécuté avec succès sur 4 clauses, route OK / Erreur testée.</a:t>
            </a:r>
          </a:p>
        </p:txBody>
      </p:sp>
      <p:sp>
        <p:nvSpPr>
          <p:cNvPr id="20" name="TextBox 19"/>
          <p:cNvSpPr txBox="1"/>
          <p:nvPr/>
        </p:nvSpPr>
        <p:spPr>
          <a:xfrm>
            <a:off x="685800" y="4105656"/>
            <a:ext cx="7772400" cy="265176"/>
          </a:xfrm>
          <a:prstGeom prst="rect">
            <a:avLst/>
          </a:prstGeom>
          <a:noFill/>
        </p:spPr>
        <p:txBody>
          <a:bodyPr wrap="square">
            <a:spAutoFit/>
          </a:bodyPr>
          <a:lstStyle/>
          <a:p>
            <a:pPr algn="l">
              <a:spcBef>
                <a:spcPts val="0"/>
              </a:spcBef>
              <a:spcAft>
                <a:spcPts val="200"/>
              </a:spcAft>
            </a:pPr>
            <a:r>
              <a:rPr sz="1200" b="0" i="0">
                <a:ea typeface="Inter"/>
                <a:solidFill>
                  <a:srgbClr val="6B6B7A"/>
                </a:solidFill>
                <a:latin typeface="Inter"/>
              </a:rPr>
              <a:t>Si un livrable manque, on le revoit avant la fin de session. Pas demain matin — maintenant.</a:t>
            </a:r>
          </a:p>
        </p:txBody>
      </p:sp>
      <p:sp>
        <p:nvSpPr>
          <p:cNvPr id="21" name="Rectangle 20"/>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08 · Synthèse</a:t>
            </a:r>
          </a:p>
        </p:txBody>
      </p:sp>
      <p:sp>
        <p:nvSpPr>
          <p:cNvPr id="23" name="TextBox 22"/>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8E7E1"/>
        </a:solidFill>
        <a:effectLst/>
      </p:bgPr>
    </p:bg>
    <p:spTree>
      <p:nvGrpSpPr>
        <p:cNvPr id="1" name=""/>
        <p:cNvGrpSpPr/>
        <p:nvPr/>
      </p:nvGrpSpPr>
      <p:grpSpPr/>
      <p:sp>
        <p:nvSpPr>
          <p:cNvPr id="2" name="TextBox 1"/>
          <p:cNvSpPr txBox="1"/>
          <p:nvPr/>
        </p:nvSpPr>
        <p:spPr>
          <a:xfrm>
            <a:off x="685800" y="411480"/>
            <a:ext cx="7772400" cy="201168"/>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08 · Demain</a:t>
            </a:r>
          </a:p>
        </p:txBody>
      </p:sp>
      <p:sp>
        <p:nvSpPr>
          <p:cNvPr id="3" name="TextBox 2"/>
          <p:cNvSpPr txBox="1"/>
          <p:nvPr/>
        </p:nvSpPr>
        <p:spPr>
          <a:xfrm>
            <a:off x="685800" y="630936"/>
            <a:ext cx="7772400" cy="457200"/>
          </a:xfrm>
          <a:prstGeom prst="rect">
            <a:avLst/>
          </a:prstGeom>
          <a:noFill/>
        </p:spPr>
        <p:txBody>
          <a:bodyPr wrap="square">
            <a:spAutoFit/>
          </a:bodyPr>
          <a:lstStyle/>
          <a:p>
            <a:pPr algn="l">
              <a:spcBef>
                <a:spcPts val="0"/>
              </a:spcBef>
              <a:spcAft>
                <a:spcPts val="200"/>
              </a:spcAft>
            </a:pPr>
            <a:r>
              <a:rPr sz="2400" b="1" i="0">
                <a:ea typeface="Work Sans"/>
                <a:solidFill>
                  <a:srgbClr val="121228"/>
                </a:solidFill>
                <a:latin typeface="Work Sans"/>
              </a:rPr>
              <a:t>Jour 2 · Dataset DSN-like et contrôles métier</a:t>
            </a:r>
          </a:p>
        </p:txBody>
      </p:sp>
      <p:sp>
        <p:nvSpPr>
          <p:cNvPr id="4" name="TextBox 3"/>
          <p:cNvSpPr txBox="1"/>
          <p:nvPr/>
        </p:nvSpPr>
        <p:spPr>
          <a:xfrm>
            <a:off x="685800" y="1088136"/>
            <a:ext cx="7772400" cy="320040"/>
          </a:xfrm>
          <a:prstGeom prst="rect">
            <a:avLst/>
          </a:prstGeom>
          <a:noFill/>
        </p:spPr>
        <p:txBody>
          <a:bodyPr wrap="square">
            <a:spAutoFit/>
          </a:bodyPr>
          <a:lstStyle/>
          <a:p>
            <a:pPr algn="l">
              <a:spcBef>
                <a:spcPts val="0"/>
              </a:spcBef>
              <a:spcAft>
                <a:spcPts val="200"/>
              </a:spcAft>
            </a:pPr>
            <a:r>
              <a:rPr sz="1600" b="0" i="0">
                <a:ea typeface="Inter"/>
                <a:solidFill>
                  <a:srgbClr val="121228"/>
                </a:solidFill>
                <a:latin typeface="Inter"/>
              </a:rPr>
              <a:t>Demain on plonge dans le dataset :</a:t>
            </a:r>
          </a:p>
        </p:txBody>
      </p:sp>
      <p:sp>
        <p:nvSpPr>
          <p:cNvPr id="5" name="TextBox 4"/>
          <p:cNvSpPr txBox="1"/>
          <p:nvPr/>
        </p:nvSpPr>
        <p:spPr>
          <a:xfrm>
            <a:off x="685800" y="1362456"/>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À préparer pour demain</a:t>
            </a:r>
          </a:p>
        </p:txBody>
      </p:sp>
      <p:sp>
        <p:nvSpPr>
          <p:cNvPr id="6" name="TextBox 5"/>
          <p:cNvSpPr txBox="1"/>
          <p:nvPr/>
        </p:nvSpPr>
        <p:spPr>
          <a:xfrm>
            <a:off x="685800" y="152704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3 questions de mission</a:t>
            </a:r>
          </a:p>
        </p:txBody>
      </p:sp>
      <p:sp>
        <p:nvSpPr>
          <p:cNvPr id="7" name="TextBox 6"/>
          <p:cNvSpPr txBox="1"/>
          <p:nvPr/>
        </p:nvSpPr>
        <p:spPr>
          <a:xfrm>
            <a:off x="685800" y="172821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Pensez à 3 contrôles paie que vous avez vus échouer en mission réelle. Anonymisés. On les confrontera au catalogue J2.</a:t>
            </a:r>
          </a:p>
        </p:txBody>
      </p:sp>
      <p:sp>
        <p:nvSpPr>
          <p:cNvPr id="8" name="TextBox 7"/>
          <p:cNvSpPr txBox="1"/>
          <p:nvPr/>
        </p:nvSpPr>
        <p:spPr>
          <a:xfrm>
            <a:off x="685800" y="1911095"/>
            <a:ext cx="7772400" cy="210311"/>
          </a:xfrm>
          <a:prstGeom prst="rect">
            <a:avLst/>
          </a:prstGeom>
          <a:noFill/>
        </p:spPr>
        <p:txBody>
          <a:bodyPr wrap="square">
            <a:spAutoFit/>
          </a:bodyPr>
          <a:lstStyle/>
          <a:p>
            <a:pPr algn="l">
              <a:spcBef>
                <a:spcPts val="0"/>
              </a:spcBef>
              <a:spcAft>
                <a:spcPts val="200"/>
              </a:spcAft>
            </a:pPr>
            <a:r>
              <a:rPr sz="1100" b="1" i="0">
                <a:ea typeface="Inter"/>
                <a:solidFill>
                  <a:srgbClr val="FF6745"/>
                </a:solidFill>
                <a:latin typeface="Inter"/>
              </a:rPr>
              <a:t>Lecture optionnelle</a:t>
            </a:r>
          </a:p>
        </p:txBody>
      </p:sp>
      <p:sp>
        <p:nvSpPr>
          <p:cNvPr id="9" name="TextBox 8"/>
          <p:cNvSpPr txBox="1"/>
          <p:nvPr/>
        </p:nvSpPr>
        <p:spPr>
          <a:xfrm>
            <a:off x="685800" y="2075688"/>
            <a:ext cx="7772400" cy="246888"/>
          </a:xfrm>
          <a:prstGeom prst="rect">
            <a:avLst/>
          </a:prstGeom>
          <a:noFill/>
        </p:spPr>
        <p:txBody>
          <a:bodyPr wrap="square">
            <a:spAutoFit/>
          </a:bodyPr>
          <a:lstStyle/>
          <a:p>
            <a:pPr algn="l">
              <a:spcBef>
                <a:spcPts val="0"/>
              </a:spcBef>
              <a:spcAft>
                <a:spcPts val="200"/>
              </a:spcAft>
            </a:pPr>
            <a:r>
              <a:rPr sz="1600" b="1" i="0">
                <a:ea typeface="Inter"/>
                <a:solidFill>
                  <a:srgbClr val="121228"/>
                </a:solidFill>
                <a:latin typeface="Inter"/>
              </a:rPr>
              <a:t>data/dsn-like/data-dictionary.md</a:t>
            </a:r>
          </a:p>
        </p:txBody>
      </p:sp>
      <p:sp>
        <p:nvSpPr>
          <p:cNvPr id="10" name="TextBox 9"/>
          <p:cNvSpPr txBox="1"/>
          <p:nvPr/>
        </p:nvSpPr>
        <p:spPr>
          <a:xfrm>
            <a:off x="685800" y="2276856"/>
            <a:ext cx="7772400" cy="228600"/>
          </a:xfrm>
          <a:prstGeom prst="rect">
            <a:avLst/>
          </a:prstGeom>
          <a:noFill/>
        </p:spPr>
        <p:txBody>
          <a:bodyPr wrap="square">
            <a:spAutoFit/>
          </a:bodyPr>
          <a:lstStyle/>
          <a:p>
            <a:pPr algn="l">
              <a:spcBef>
                <a:spcPts val="0"/>
              </a:spcBef>
              <a:spcAft>
                <a:spcPts val="200"/>
              </a:spcAft>
            </a:pPr>
            <a:r>
              <a:rPr sz="1300" b="0" i="0">
                <a:ea typeface="Inter"/>
                <a:solidFill>
                  <a:srgbClr val="6B6B7A"/>
                </a:solidFill>
                <a:latin typeface="Inter"/>
              </a:rPr>
              <a:t>Le dictionnaire que vous utiliserez demain. 5 minutes de lecture, ça change la journée.</a:t>
            </a:r>
          </a:p>
        </p:txBody>
      </p:sp>
      <p:sp>
        <p:nvSpPr>
          <p:cNvPr id="11" name="TextBox 10"/>
          <p:cNvSpPr txBox="1"/>
          <p:nvPr/>
        </p:nvSpPr>
        <p:spPr>
          <a:xfrm>
            <a:off x="685800" y="2459736"/>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200–500 lignes → DSN-like fictif, 2 périodes (2025-01, 2025-02).</a:t>
            </a:r>
          </a:p>
        </p:txBody>
      </p:sp>
      <p:sp>
        <p:nvSpPr>
          <p:cNvPr id="12" name="TextBox 11"/>
          <p:cNvSpPr txBox="1"/>
          <p:nvPr/>
        </p:nvSpPr>
        <p:spPr>
          <a:xfrm>
            <a:off x="685800" y="2697480"/>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10 contrôles → Doublons, NIR, salaires, URSSAF, sorties, retraite…</a:t>
            </a:r>
          </a:p>
        </p:txBody>
      </p:sp>
      <p:sp>
        <p:nvSpPr>
          <p:cNvPr id="13" name="TextBox 12"/>
          <p:cNvSpPr txBox="1"/>
          <p:nvPr/>
        </p:nvSpPr>
        <p:spPr>
          <a:xfrm>
            <a:off x="685800" y="2935224"/>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Dictionnaire de données → Champ, type, contrainte, exemple, anomalie.</a:t>
            </a:r>
          </a:p>
        </p:txBody>
      </p:sp>
      <p:sp>
        <p:nvSpPr>
          <p:cNvPr id="14" name="TextBox 13"/>
          <p:cNvSpPr txBox="1"/>
          <p:nvPr/>
        </p:nvSpPr>
        <p:spPr>
          <a:xfrm>
            <a:off x="685800" y="3172968"/>
            <a:ext cx="7772400" cy="283464"/>
          </a:xfrm>
          <a:prstGeom prst="rect">
            <a:avLst/>
          </a:prstGeom>
          <a:noFill/>
        </p:spPr>
        <p:txBody>
          <a:bodyPr wrap="square">
            <a:spAutoFit/>
          </a:bodyPr>
          <a:lstStyle/>
          <a:p>
            <a:pPr algn="l">
              <a:spcBef>
                <a:spcPts val="0"/>
              </a:spcBef>
              <a:spcAft>
                <a:spcPts val="200"/>
              </a:spcAft>
            </a:pPr>
            <a:r>
              <a:rPr sz="1400" b="0" i="0">
                <a:ea typeface="Inter"/>
                <a:solidFill>
                  <a:srgbClr val="121228"/>
                </a:solidFill>
                <a:latin typeface="Inter"/>
              </a:rPr>
              <a:t>Modèle d'exception → Format unique pour toutes les sorties d'audit.</a:t>
            </a:r>
          </a:p>
        </p:txBody>
      </p:sp>
      <p:sp>
        <p:nvSpPr>
          <p:cNvPr id="15" name="Rectangle 14"/>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08 · Synthèse</a:t>
            </a:r>
          </a:p>
        </p:txBody>
      </p:sp>
      <p:sp>
        <p:nvSpPr>
          <p:cNvPr id="17" name="TextBox 16"/>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A1A33"/>
        </a:solidFill>
        <a:effectLst/>
      </p:bgPr>
    </p:bg>
    <p:spTree>
      <p:nvGrpSpPr>
        <p:cNvPr id="1" name=""/>
        <p:cNvGrpSpPr/>
        <p:nvPr/>
      </p:nvGrpSpPr>
      <p:grpSpPr/>
      <p:sp>
        <p:nvSpPr>
          <p:cNvPr id="2" name="TextBox 1"/>
          <p:cNvSpPr txBox="1"/>
          <p:nvPr/>
        </p:nvSpPr>
        <p:spPr>
          <a:xfrm>
            <a:off x="914400" y="1748790"/>
            <a:ext cx="7315200" cy="320040"/>
          </a:xfrm>
          <a:prstGeom prst="rect">
            <a:avLst/>
          </a:prstGeom>
          <a:noFill/>
        </p:spPr>
        <p:txBody>
          <a:bodyPr wrap="square">
            <a:spAutoFit/>
          </a:bodyPr>
          <a:lstStyle/>
          <a:p>
            <a:pPr algn="l">
              <a:spcBef>
                <a:spcPts val="0"/>
              </a:spcBef>
              <a:spcAft>
                <a:spcPts val="200"/>
              </a:spcAft>
            </a:pPr>
            <a:r>
              <a:rPr sz="1400" b="1" i="0">
                <a:ea typeface="Inter"/>
                <a:solidFill>
                  <a:srgbClr val="FF6745"/>
                </a:solidFill>
                <a:latin typeface="Inter"/>
              </a:rPr>
              <a:t>Fin · Jour 01 / 07</a:t>
            </a:r>
          </a:p>
        </p:txBody>
      </p:sp>
      <p:sp>
        <p:nvSpPr>
          <p:cNvPr id="3" name="TextBox 2"/>
          <p:cNvSpPr txBox="1"/>
          <p:nvPr/>
        </p:nvSpPr>
        <p:spPr>
          <a:xfrm>
            <a:off x="914400" y="2160270"/>
            <a:ext cx="7315200" cy="502920"/>
          </a:xfrm>
          <a:prstGeom prst="rect">
            <a:avLst/>
          </a:prstGeom>
          <a:noFill/>
        </p:spPr>
        <p:txBody>
          <a:bodyPr wrap="square">
            <a:spAutoFit/>
          </a:bodyPr>
          <a:lstStyle/>
          <a:p>
            <a:pPr algn="l">
              <a:spcBef>
                <a:spcPts val="0"/>
              </a:spcBef>
              <a:spcAft>
                <a:spcPts val="200"/>
              </a:spcAft>
            </a:pPr>
            <a:r>
              <a:rPr sz="3800" b="1" i="0">
                <a:ea typeface="Work Sans"/>
                <a:solidFill>
                  <a:srgbClr val="FFFFFF"/>
                </a:solidFill>
                <a:latin typeface="Work Sans"/>
              </a:rPr>
              <a:t>Questions ?</a:t>
            </a:r>
          </a:p>
        </p:txBody>
      </p:sp>
      <p:sp>
        <p:nvSpPr>
          <p:cNvPr id="4" name="TextBox 3"/>
          <p:cNvSpPr txBox="1"/>
          <p:nvPr/>
        </p:nvSpPr>
        <p:spPr>
          <a:xfrm>
            <a:off x="914400" y="2663190"/>
            <a:ext cx="7315200" cy="502920"/>
          </a:xfrm>
          <a:prstGeom prst="rect">
            <a:avLst/>
          </a:prstGeom>
          <a:noFill/>
        </p:spPr>
        <p:txBody>
          <a:bodyPr wrap="square">
            <a:spAutoFit/>
          </a:bodyPr>
          <a:lstStyle/>
          <a:p>
            <a:pPr algn="l">
              <a:spcBef>
                <a:spcPts val="0"/>
              </a:spcBef>
              <a:spcAft>
                <a:spcPts val="200"/>
              </a:spcAft>
            </a:pPr>
            <a:r>
              <a:rPr sz="3800" b="1" i="0">
                <a:ea typeface="Work Sans"/>
                <a:solidFill>
                  <a:srgbClr val="FFFFFF"/>
                </a:solidFill>
                <a:latin typeface="Work Sans"/>
              </a:rPr>
              <a:t>On a 15 min.</a:t>
            </a:r>
          </a:p>
        </p:txBody>
      </p:sp>
      <p:sp>
        <p:nvSpPr>
          <p:cNvPr id="5" name="TextBox 4"/>
          <p:cNvSpPr txBox="1"/>
          <p:nvPr/>
        </p:nvSpPr>
        <p:spPr>
          <a:xfrm>
            <a:off x="914400" y="3257550"/>
            <a:ext cx="7315200" cy="320040"/>
          </a:xfrm>
          <a:prstGeom prst="rect">
            <a:avLst/>
          </a:prstGeom>
          <a:noFill/>
        </p:spPr>
        <p:txBody>
          <a:bodyPr wrap="square">
            <a:spAutoFit/>
          </a:bodyPr>
          <a:lstStyle/>
          <a:p>
            <a:pPr algn="l">
              <a:spcBef>
                <a:spcPts val="0"/>
              </a:spcBef>
              <a:spcAft>
                <a:spcPts val="200"/>
              </a:spcAft>
            </a:pPr>
            <a:r>
              <a:rPr sz="1300" b="0" i="0">
                <a:ea typeface="Inter"/>
                <a:solidFill>
                  <a:srgbClr val="8A8A99"/>
                </a:solidFill>
                <a:latin typeface="Inter"/>
              </a:rPr>
              <a:t>Jour 2 · 09:00 — Dataset DSN-like</a:t>
            </a:r>
          </a:p>
        </p:txBody>
      </p:sp>
      <p:sp>
        <p:nvSpPr>
          <p:cNvPr id="6" name="TextBox 5"/>
          <p:cNvSpPr txBox="1"/>
          <p:nvPr/>
        </p:nvSpPr>
        <p:spPr>
          <a:xfrm>
            <a:off x="914400" y="3577590"/>
            <a:ext cx="7315200" cy="274320"/>
          </a:xfrm>
          <a:prstGeom prst="rect">
            <a:avLst/>
          </a:prstGeom>
          <a:noFill/>
        </p:spPr>
        <p:txBody>
          <a:bodyPr wrap="square">
            <a:spAutoFit/>
          </a:bodyPr>
          <a:lstStyle/>
          <a:p>
            <a:pPr algn="l">
              <a:spcBef>
                <a:spcPts val="0"/>
              </a:spcBef>
              <a:spcAft>
                <a:spcPts val="200"/>
              </a:spcAft>
            </a:pPr>
            <a:r>
              <a:rPr sz="1100" b="0" i="0">
                <a:ea typeface="Inter"/>
                <a:solidFill>
                  <a:srgbClr val="FF6745"/>
                </a:solidFill>
                <a:latin typeface="Inter"/>
              </a:rPr>
              <a:t>à demain</a:t>
            </a:r>
          </a:p>
        </p:txBody>
      </p:sp>
      <p:sp>
        <p:nvSpPr>
          <p:cNvPr id="7" name="Rectangle 6"/>
          <p:cNvSpPr/>
          <p:nvPr/>
        </p:nvSpPr>
        <p:spPr>
          <a:xfrm>
            <a:off x="0" y="6263640"/>
            <a:ext cx="9144000" cy="320040"/>
          </a:xfrm>
          <a:prstGeom prst="rect">
            <a:avLst/>
          </a:prstGeom>
          <a:solidFill>
            <a:srgbClr val="1A1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291072"/>
            <a:ext cx="4572000" cy="256032"/>
          </a:xfrm>
          <a:prstGeom prst="rect">
            <a:avLst/>
          </a:prstGeom>
          <a:noFill/>
        </p:spPr>
        <p:txBody>
          <a:bodyPr wrap="square">
            <a:spAutoFit/>
          </a:bodyPr>
          <a:lstStyle/>
          <a:p>
            <a:pPr algn="l">
              <a:spcBef>
                <a:spcPts val="0"/>
              </a:spcBef>
              <a:spcAft>
                <a:spcPts val="200"/>
              </a:spcAft>
            </a:pPr>
            <a:r>
              <a:rPr sz="1000" b="0" i="0">
                <a:ea typeface="Inter"/>
                <a:solidFill>
                  <a:srgbClr val="8A8A99"/>
                </a:solidFill>
                <a:latin typeface="Inter"/>
              </a:rPr>
              <a:t>Merci</a:t>
            </a:r>
          </a:p>
        </p:txBody>
      </p:sp>
      <p:sp>
        <p:nvSpPr>
          <p:cNvPr id="9" name="TextBox 8"/>
          <p:cNvSpPr txBox="1"/>
          <p:nvPr/>
        </p:nvSpPr>
        <p:spPr>
          <a:xfrm>
            <a:off x="7498079" y="6291072"/>
            <a:ext cx="1371600" cy="256032"/>
          </a:xfrm>
          <a:prstGeom prst="rect">
            <a:avLst/>
          </a:prstGeom>
          <a:noFill/>
        </p:spPr>
        <p:txBody>
          <a:bodyPr wrap="square">
            <a:spAutoFit/>
          </a:bodyPr>
          <a:lstStyle/>
          <a:p>
            <a:pPr algn="r">
              <a:spcBef>
                <a:spcPts val="0"/>
              </a:spcBef>
              <a:spcAft>
                <a:spcPts val="200"/>
              </a:spcAft>
            </a:pPr>
            <a:r>
              <a:rPr sz="1200" b="0" i="0">
                <a:ea typeface="Work Sans"/>
                <a:solidFill>
                  <a:srgbClr val="FF6745"/>
                </a:solidFill>
                <a:latin typeface="Work Sans"/>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