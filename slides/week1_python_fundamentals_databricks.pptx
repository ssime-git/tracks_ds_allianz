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94360"/>
            <a:ext cx="3840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FORMATION · DATA SCIENTIST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859536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E8E7E1"/>
                </a:solidFill>
                <a:latin typeface="Arial"/>
              </a:rPr>
              <a:t>Python
Fundamentals
in Databricks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09160"/>
            <a:ext cx="40233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8E7E1"/>
                </a:solidFill>
                <a:latin typeface="Arial"/>
              </a:rPr>
              <a:t>SAS → Python · pandas · Spark · 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285232"/>
            <a:ext cx="1554480" cy="329184"/>
          </a:xfrm>
          <a:prstGeom prst="round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376672"/>
            <a:ext cx="114300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WEEK 01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192024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E8E7E1"/>
                </a:solidFill>
                <a:latin typeface="Arial"/>
              </a:rPr>
              <a:t>LIORA · ALLIANZ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37376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E8E7E1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CADRAGE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4 heures, un fil très guidé.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Démonstration lente, exercice court, correction immédiate.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Cadrage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74519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objectif, mapping SAS, environnement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874519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13432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313432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Databricks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313432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workspace, cluster, notebook, chemins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313432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52344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752344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752344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variables, types, listes, fonctions, indentation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752344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45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91256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19125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191256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respiration +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3191256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30168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630168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pandas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630168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charger, explorer, filtrer, agréger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3630168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60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69079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069079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Spark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069079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mêmes gestes sur Spark DataFrame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4069079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30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507992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507992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507992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vue temporaire, COUNT, AVG, GROUP BY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4507992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25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946904"/>
            <a:ext cx="4114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6745"/>
                </a:solidFill>
                <a:latin typeface="Arial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4946904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Challenge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4946904"/>
            <a:ext cx="53035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segment le plus coûteux + restitution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4946904"/>
            <a:ext cx="640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SOMMAIRE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Déroulé 4h.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Objectif: alterner explication, démo et pratique.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34640"/>
            <a:ext cx="1417320" cy="59436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Cadrage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834640"/>
            <a:ext cx="1417320" cy="594360"/>
          </a:xfrm>
          <a:prstGeom prst="rect">
            <a:avLst/>
          </a:prstGeom>
          <a:solidFill>
            <a:srgbClr val="76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0:20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Databricks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834640"/>
            <a:ext cx="1417320" cy="59436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Python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834640"/>
            <a:ext cx="1417320" cy="594360"/>
          </a:xfrm>
          <a:prstGeom prst="rect">
            <a:avLst/>
          </a:prstGeom>
          <a:solidFill>
            <a:srgbClr val="DDF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1:45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Pause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834640"/>
            <a:ext cx="1417320" cy="594360"/>
          </a:xfrm>
          <a:prstGeom prst="rect">
            <a:avLst/>
          </a:prstGeom>
          <a:solidFill>
            <a:srgbClr val="76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1:55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pandas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2834640"/>
            <a:ext cx="1417320" cy="59436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2:55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Spark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87000" y="2834640"/>
            <a:ext cx="1417320" cy="59436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2962656"/>
            <a:ext cx="123444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3:25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611880"/>
            <a:ext cx="1234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A1A33"/>
                </a:solidFill>
                <a:latin typeface="Arial"/>
              </a:rPr>
              <a:t>SQL + challenge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TIMING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371600"/>
            <a:ext cx="1005840" cy="100584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1673352"/>
            <a:ext cx="320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A1A33"/>
                </a:solidFill>
                <a:latin typeface="Arial"/>
              </a:rPr>
              <a:t>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542032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SAS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972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600" b="0">
                <a:solidFill>
                  <a:srgbClr val="606074"/>
                </a:solidFill>
                <a:latin typeface="Arial"/>
              </a:rPr>
              <a:t>Analyste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17320"/>
            <a:ext cx="6858000" cy="146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1A1A33"/>
                </a:solidFill>
                <a:latin typeface="Arial"/>
              </a:rPr>
              <a:t>Je connais SAS. Je veux retrouver mes repères sans devenir développeur Python.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PUBLIC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OBJECTIF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Même logique analytique.
Nouvel environnement.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 program → notebook · SAS dataset → DataFrame · PROC SQL →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On garde les réflexes métier: lire, filtrer, agréger, interpréter.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OBJECTIF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00 · 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La méthode du jour.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On apprend toujours dans le même ordre: comprendre le concept, lire la commande, pratiquer, vérifier, retenir une bonne pratique.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892040"/>
            <a:ext cx="8778240" cy="438912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047488"/>
            <a:ext cx="813816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  <a:latin typeface="Arial"/>
              </a:rPr>
              <a:t>CONCEPT → COMMANDE → PRATIQUE → CORRECTION → BONNE PRATIQUE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MÉTHODE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SAS → Databricks.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DATABRICKS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À RETENIR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SAS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Code + texte + résultats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DATA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pandas / Spark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Transformation de 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SQL cell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Langage familier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SAS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DataFrame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Lignes + colonnes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087367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Library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Catalog /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Emplacement des données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MAPPING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TOUR DE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Tour de table orienté usage.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6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Identifier les repères SAS déjà maîtrisés par le groupe.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Quel PROC utilisez-vous le plus souvent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Quelle opération revient chaque semaine : filtrer, agréger, joindre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Quelle partie de Databricks vous inquiète le plus 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3 attentes écrites au tableau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TOUR DE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Dataset fil rouge.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COLONNE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QUESTION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âge du bénéficiaire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catégorie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segment homme/femme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bmi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indicateur de corpulence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children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nombre d'enfants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smoker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catégorie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facteur de risque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94690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500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catégorie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zone géographique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42239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111495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charges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5008" y="5111495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numérique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51648" y="5111495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coût médical annuel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Question métier du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32 100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segment très coûteux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8 450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base de comparaison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13 700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moyenne globale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Objectif final: produire ce type de lecture, pas seulement du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29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00 · QCM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96926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8E7E1"/>
                </a:solidFill>
                <a:latin typeface="Arial"/>
              </a:rPr>
              <a:t>Dans Databricks, qu'est-ce qu'un notebook 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87752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Un fichier de données.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36391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9272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Un document qui mélange texte, code et résultats.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9624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014215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Un cluster de calcul.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62856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727448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Une librairie Python.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9784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Réponse attendue: B · texte + code + résultats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00 · QCM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01 · 35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Databricks.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Se repérer avant de coder.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01 · REPÈRE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Avant d'exécuter: localiser.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Dans Databricks, les erreurs de débutant viennent souvent d'un mauvais endroit: mauvais notebook, mauvais cluster, mauvais chemin de fichier.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REPÈRE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Le parcours d'une analyse.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Quatre objets visibles, pas d'architecture complexe.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Cluster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WORKSPACE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REPÈRES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Les zones à reconnaître.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WORKSPACE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Dossiers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/Shared/training et notebooks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 moteur d'exécution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Fichiers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insurance.csv dans FileStore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NOTEBOOK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Cellules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Markdown, Python, 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7304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1896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1896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Résultat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1896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Sortie sous la cellule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0247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4839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SHARE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4839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Collaboration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4839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Même support pour tous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REPÈRES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Un notebook s'exécute
cellule par cellule.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DÉMO LIVE · ouvrir · attacher cluster · exécuter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Ne pas tout lancer au début: on observe le résultat après chaque étape.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01 ·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Allez dans le notebook.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01_intro_databricks.py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94760"/>
            <a:ext cx="9875520" cy="73152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050791"/>
            <a:ext cx="9144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Exécuter les cellules 1 à 5, sans Run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 GUIDÉE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Démo: premier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Chaque participant voit le même résultat à l'écran.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Ouvrir /Shared/training/01_Intro_Databricks.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Attacher le cluster single-node.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Exécuter la cellule print puis la cellule variable.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Demander: où apparaît le résultat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Tout le groupe a exécuté Hello Databricks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DÉMO GUIDÉE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CHEMINS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Deux chemins pour un même fichier.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CHEMIN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POURQUOI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pandas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/dbfs/FileStore/tables/insurance.csv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Lecture locale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/FileStore/tables/insurance.csv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Lecture Spark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Databricks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FileStore/tables/insurance.csv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Upload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CHEMINS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modifier une cellule.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Désacraliser le notebook: modifier, exécuter, observer.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Changer region = "North" en region = "South".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Changer premium = 1000 en premium = 1500.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Ré-exécuter seulement la cellule concernée.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Comparer avec son voisin.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Une valeur modifiée et un résultat compris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ERREURS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Erreurs fréquentes Databricks.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CLUSTER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Non attaché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La cellule reste en attente ou échoue.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ORDRE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Cellule oubliée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La variable n'existe pas encore.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CHEMIN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/dbfs manquant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pandas ne trouve pas le fichier.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RUN 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Trop tôt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On perd le contrôle pédagogique.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7304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1896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DOSSIER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1896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Mauvais import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1896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 notebook n'est pas au bon endroit.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0247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4839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RÉSULTAT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4839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Non lu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4839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On exécute sans interpréter.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ERREURS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29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01 · QCM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96926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8E7E1"/>
                </a:solidFill>
                <a:latin typeface="Arial"/>
              </a:rPr>
              <a:t>Une cellule pandas ne trouve pas le fichier. Quel premier contrôle 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87752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Redémarrer le navigateur.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36391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9272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Vérifier le chemin /dbfs/FileStore/tables/insurance.csv.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9624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014215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Changer la colonne charges.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62856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727448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Créer une fonction Python.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9784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Réponse attendue: B · vérifier le chemin utilisé par 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01 · QCM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02 · 50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Python basics.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Lire du code analytique simple.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ÉCOSYSTÈME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L'écosystème Python.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Python n'est pas seulement un langage: c'est un écosystème d'outils.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874519"/>
            <a:ext cx="9692640" cy="566928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048255"/>
            <a:ext cx="27432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E7E1"/>
                </a:solidFill>
                <a:latin typeface="Arial"/>
              </a:rPr>
              <a:t>Langage 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048255"/>
            <a:ext cx="566928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8E7E1"/>
                </a:solidFill>
                <a:latin typeface="Arial"/>
              </a:rPr>
              <a:t>variables · conditions · fonctions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2569463"/>
            <a:ext cx="9692640" cy="566928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743199"/>
            <a:ext cx="27432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Modules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743199"/>
            <a:ext cx="566928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fichiers de code réutilisable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264407"/>
            <a:ext cx="9692640" cy="566928"/>
          </a:xfrm>
          <a:prstGeom prst="rect">
            <a:avLst/>
          </a:prstGeom>
          <a:solidFill>
            <a:srgbClr val="76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438143"/>
            <a:ext cx="27432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Packages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438143"/>
            <a:ext cx="566928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pandas · numpy · matplotlib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959351"/>
            <a:ext cx="9692640" cy="56692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133087"/>
            <a:ext cx="27432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33"/>
                </a:solidFill>
                <a:latin typeface="Arial"/>
              </a:rPr>
              <a:t>Environnement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33087"/>
            <a:ext cx="566928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33"/>
                </a:solidFill>
                <a:latin typeface="Arial"/>
              </a:rPr>
              <a:t>Databricks Runtime · librairies installées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4654295"/>
            <a:ext cx="9692640" cy="566928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828031"/>
            <a:ext cx="27432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33"/>
                </a:solidFill>
                <a:latin typeface="Arial"/>
              </a:rPr>
              <a:t>Notebook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4828031"/>
            <a:ext cx="566928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33"/>
                </a:solidFill>
                <a:latin typeface="Arial"/>
              </a:rPr>
              <a:t>cellules qui orchestrent l'analyse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ÉCOSYSTÈME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IMPORTS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Comprendre import.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ÉCRITURE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import pandas as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charge pandas sous le nom 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standard en data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from pyspark.sql.functions import avg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importe une fonction précise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agrégation Spark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import math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module standard 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calculs simples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IMPORTS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02 · CONSEIL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Ne mémorisez pas tout.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Pour un analyste, le premier objectif est de reconnaître les motifs: import, variable, filtre, groupby, display.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892040"/>
            <a:ext cx="8778240" cy="438912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047488"/>
            <a:ext cx="813816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  <a:latin typeface="Arial"/>
              </a:rPr>
              <a:t>RECONNAÎTRE → MODIFIER → VÉRIFIER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CONSEIL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REPÈRE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DATA step → Python.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data work.demo;
  age = 45;
  region = 'southwest';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age = 45
region = "southwest"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Même idée: nommer des valeurs. Python est plus direct, moins structuré autour d'une 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REPÈRE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Variable.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age = 45
region = "southwest"
premium = 1200.50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Le signe égal stocke une valeur dans un nom.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VARIABLE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4 types à reconnaître.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EXEMPLE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âge, compteur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float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27.5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BMI, montant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str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"southwest"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modalité texte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bool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condition vraie/fausse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TYPES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LISTE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regions = ["northeast", "northwest",
           "southeast", "southwest"]
regions[0]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Une liste regroupe plusieurs valeurs possibles.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types et valeurs.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7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les valeurs avant de parler de syntaxe.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Modifier age, bmi, smoker.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Exécuter print(type(age)), print(type(bmi)).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Dire à voix haute: entier, décimal, texte ou booléen.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Chaque participant sait identifier 3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02 ·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Allez dans le notebook.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02_python_basics.py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94760"/>
            <a:ext cx="9875520" cy="73152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050791"/>
            <a:ext cx="9144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Faire les blocs Concept 1 à 3: variables, types, condition.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Condition.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if age &gt; 50:
    print("senior")
else:
    print("non senior")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L'indentation indique les lignes contrôlées par le if.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IF SAS → IF Python.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if age &gt; 50 then segment='senior';
else segment='non senior';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if age &gt; 50:
    segment = "senior"
else:
    segment = "non senior"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La logique est identique. Le vrai changement est l'indentation.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BINÔME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Lecture en binôme.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6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Forcer une lecture ligne par ligne, sans exécuter d'abord.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Une personne lit la condition.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L'autre prédit le résultat pour age = 54.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On change age = 35 et on prédit à nouveau.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Deux prédictions vérifiées par exécution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BINÔME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FONCTION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Fonction.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def annual_cost(monthly_cost):
    return monthly_cost * 12
annual_cost(120)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Une règle métier nommée, réutilisable.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FONCTION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Atelier Python guidé.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ÉTAPE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Modifier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Changer age, region, premium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ÉTAPE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Exécuter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Observer chaque sortie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ÉTAPE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Expliquer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Lire la ligne avec ses mots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Correction Python.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Ne pas corriger seulement le résultat: corriger la lecture.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Demander à un participant de lire son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Pointer le nom de variable, le signe, la valeur.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Faire expliquer l'indentation par le groupe.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Le groupe sait expliquer une cellule courte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CORRECTION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29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02 · QCM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96926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8E7E1"/>
                </a:solidFill>
                <a:latin typeface="Arial"/>
              </a:rPr>
              <a:t>Que fait `import pandas as pd` 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87752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Il lit directement le CSV.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36391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9272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Il installe Python.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9624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014215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Il rend le package pandas disponible sous le nom pd.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62856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727448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Il crée un cluster Databricks.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9784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Réponse attendue: C · pandas devient accessible via pd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QCM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371600"/>
            <a:ext cx="1005840" cy="100584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1673352"/>
            <a:ext cx="320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A1A33"/>
                </a:solidFill>
                <a:latin typeface="Arial"/>
              </a:rPr>
              <a:t>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542032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SAS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972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600" b="0">
                <a:solidFill>
                  <a:srgbClr val="606074"/>
                </a:solidFill>
                <a:latin typeface="Arial"/>
              </a:rPr>
              <a:t>Analyste métier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17320"/>
            <a:ext cx="6858000" cy="146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1A1A33"/>
                </a:solidFill>
                <a:latin typeface="Arial"/>
              </a:rPr>
              <a:t>Si je sais lire un IF SAS, je peux lire un IF Python. Le symbole change, la logique reste.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02 · RASSURER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03 · 60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pandas.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Manipuler une table comme un analyste.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03 · PRINCIPE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Toujours contrôler avant d'analyser.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Une analyse pandas commence par vérifier la table: aperçu, colonnes, types, ordres de grandeur.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892040"/>
            <a:ext cx="8778240" cy="438912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047488"/>
            <a:ext cx="813816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  <a:latin typeface="Arial"/>
              </a:rPr>
              <a:t>HEAD · INFO · DESCRIBE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PRINCIPE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DATAFRAME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Un DataFrame est une 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 dataset · Excel sheet · pandas DataFrame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Lignes, colonnes, types, aperçu, statistiques.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DATAFRAME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Anatomie d'une 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ÉLÉMENT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DANS INSURANCE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RÉFLEXE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Ligne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un bénéficiaire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observation SAS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Colonne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age, bmi, charges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SAS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Modalité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smoker=yes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valeur catégorielle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Mesure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charges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à analyser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ANATOMY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Charger le CSV.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import pandas as pd
df = pd.read_csv(
    "/dbfs/FileStore/tables/insurance.csv"
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Une ligne crée la table df.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DÉMO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Démo: chargement contrôlé.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6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Montrer que charger une table est une étape observable.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Exécuter import pandas.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Exécuter read_csv.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Afficher type(df).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Afficher len(df).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Le groupe voit qu'un DataFrame existe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DÉMO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03 ·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Allez dans le notebook.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03_pandas_basics.py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94760"/>
            <a:ext cx="9875520" cy="73152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050791"/>
            <a:ext cx="9144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Faire le bloc Charger + Contrôler avant tout filtre.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Workflow pandas.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Chaque notebook répète ce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Load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Inspect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Filter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Group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02367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07668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8641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Interpret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Explorer.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df.head()
df.info()
df.describe()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Trois réflexes avant de conclure.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Ce qu'on cherche dans l'aperçu.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18-64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ordre de grandeur plausible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yes/no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modalité attendue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charges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1 200-55 000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montants à analyser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Avant de filtrer, on vérifie que la table ressemble à ce qu'on croit.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INSPECT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explorer.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Faire produire les premiers contrôles par les participants.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Afficher les 5 premières lignes.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Compter le nombre de lignes.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Lister les colonnes.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Identifier la colonne cible.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Nombre de lignes + liste de colonnes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Sélectionner.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df[["age", "charges"]]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On garde seulement les colonnes utiles.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KEEP SAS → sélection pandas.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data work.small;
  set insurance(keep=age charges);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df[["age", "charges"]]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Même intention: réduire la table aux variables utiles.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SELECT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Filtrer.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df[df["smoker"] == "yes"]
df[df["bmi"] &gt; 30]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La condition garde certaines lignes.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WHERE SAS → filtre pandas.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data work.smokers;
  set insurance;
  where smoker = 'yes';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df[df["smoker"] == "yes"]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Le filtre est une question vraie/fausse posée à chaque ligne.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filtrer.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Modifier des seuils sans page blanche.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Patients age &gt; 50.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Smokers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BMI &gt; 30.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Female smokers.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4 filtres exécutés et un résultat 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29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03 · QCM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96926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8E7E1"/>
                </a:solidFill>
                <a:latin typeface="Arial"/>
              </a:rPr>
              <a:t>Pourquoi écrit-on `df[df["smoker"] == "yes"]` avec `==` 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87752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Parce que `==` teste une condition.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36391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9272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Parce que `=` filtre une table.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9624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014215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Parce que pandas impose toujours deux crochets.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62856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727448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Parce que smoker est numérique.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9784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Réponse attendue: A · `==` compare, `=` affecte une valeur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QCM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GROUPBY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Agréger.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df.groupby("region")["charges"].mean()
df.groupby("smoker")["charges"].mean()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PROC MEANS mental model: class puis moyenne.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GROUPBY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PROC MEANS → groupby.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proc means data=insurance mean;
  class smoker;
  var charges;
run;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df.groupby("smoker")["charges"].mean()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Class devient groupby. Var devient la colonne entre crochets.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MEANS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un résultat groupby.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32 100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coûts très supérieurs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smoker=no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8 450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base non-fumeur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x3.8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écart métier à commenter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La sortie n'est pas la fin: il faut une phrase métier.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agréger.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Faire varier la colonne de regroupement.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Moyenne de charges par region.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Moyenne de charges par smoker.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Moyenne de charges par sex.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Noter le segment le plus élevé.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3 agrégations + une interprétation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SAS → pandas.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GESTE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head()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prévisualiser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CONTENTS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info()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WHERE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df[condition]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filtrer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MEANS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groupby().mean()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agréger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087367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PROC SORT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sort_values()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trier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MAPPING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Atelier pandas guidé.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EXPLORER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5 premières lignes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head, columns, describe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FILTRER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Segments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age &gt; 50, smoker, BMI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AGRÉGER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Coûts moyens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region, smoker, sex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PIÈGES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Pièges pandas du premier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GUILLEMETS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Nom de colonne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df["age"], pas df[age]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896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DOUBLE CROCHETS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1896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Plusieurs colonnes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1896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df[["age", "charges"]]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0247" y="2057400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4839" y="2221992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ÉGALITÉ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4839" y="2450592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Deux signes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39" y="2807208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 == "yes"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PARENTHÈSES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Filtres combinés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Chaque condition est isolée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7304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1896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TRI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1896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ascending=False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1896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Du plus élevé au plus faible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0247" y="3685032"/>
            <a:ext cx="3486911" cy="1243584"/>
          </a:xfrm>
          <a:prstGeom prst="rect">
            <a:avLst/>
          </a:prstGeom>
          <a:solidFill>
            <a:srgbClr val="F2F1ED"/>
          </a:solidFill>
          <a:ln>
            <a:solidFill>
              <a:srgbClr val="D2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4839" y="3849624"/>
            <a:ext cx="3157728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INTERPRÉTER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4839" y="4078224"/>
            <a:ext cx="31577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33"/>
                </a:solidFill>
                <a:latin typeface="Arial"/>
              </a:rPr>
              <a:t>Pas juste afficher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4839" y="4434840"/>
            <a:ext cx="3157728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Lire le résultat métier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PIÈGES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03 · BONNE PRATIQUE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Une sortie doit être 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Après chaque résultat, demander: combien de lignes, quelles colonnes, quel segment ressort, et quelle phrase métier peut-on 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BONNE PRATIQUE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Pause 10 minutes.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1:25 → 1:35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Au retour: mêmes gestes, mais avec Spark.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03 · PAUSE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04 · 30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Spark.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Même table, exécution Databricks.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MENTAL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Spark en une image.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On évite les détails distribués cette semaine.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Notebook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Cluster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Spark DataFrame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display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MENTAL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On refait les mêmes gestes
avec l'outil Databricks standard.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select · filter · groupBy · display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Aujourd'hui, on apprend à reconnaître la syntaxe Spark, pas à expliquer le calcul distribué.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avec Spark.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spark_df = spark.read.csv(
    "/FileStore/tables/insurance.csv",
    header=True,
    inferSchema=True
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Même CSV, autre moteur.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Sélectionner et filtrer.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spark_df.select("age", "charges")
spark_df.filter(spark_df.age &gt; 50)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Même intention que pandas.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pandas → Spark.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df[["age", "charges"]]
df[df["age"] &gt; 50]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spark_df.select("age", "charges")
spark_df.filter(spark_df.age &gt; 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Les verbes deviennent explicites: select, filter.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TRANSLATE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Exercice: traduire.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Répéter les gestes pandas en Spark.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select age, charges.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filter age &gt; 50.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display le résultat.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Comparer avec pandas.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2 opérations Spark visibles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EXERCICE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04 ·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Allez dans le notebook.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04_spark_basics.py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94760"/>
            <a:ext cx="9875520" cy="73152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050791"/>
            <a:ext cx="9144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Refaire select, filter, groupBy dans le notebook Spark.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GROUPBY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GroupBy Spark.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from pyspark.sql.functions import avg
spark_df.groupBy("region").agg(
    avg("charges").alias("avg_charges")
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La syntaxe change, la question métier reste.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GROUPBY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Correction Spark.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7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Insister sur l'intention plus que sur la syntaxe.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Identifier le verbe Spark.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Identifier la colonne de segment.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Identifier la mesure agrégée.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La traduction pandas → Spark est comprise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CORRECTION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pandas ou Spark 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SITUATION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SPARK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Apprendre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Bien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Petit 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Simple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Possible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Databricks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Naturel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11879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Très gros volume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Limité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Prévu pour ça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29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04 · QCM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96926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8E7E1"/>
                </a:solidFill>
                <a:latin typeface="Arial"/>
              </a:rPr>
              <a:t>Dans le notebook Spark, pourquoi utilise-t-on `display(spark_df)` 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87752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Pour installer Spark.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36391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9272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Pour afficher une table interactive dans Databricks.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9624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014215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Pour convertir en CSV.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62856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727448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Pour créer une fonction.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9784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Réponse attendue: B · display affiche le DataFrame dans Databricks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04 · QCM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05 · 35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SQL.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Réutiliser un langage familier.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Créer une vue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spark_df.createOrReplaceTempView("insurance")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SQL interroge la vue insurance.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SQL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Pourquoi créer une vue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La vue fait le pont entre Spark et SQL.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Spark DataFrame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Temp view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SQL cell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SQL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COUNT.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SELECT COUNT(*) AS row_count
FROM insurance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Premier contrôle: le volume chargé.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AVG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GROUP BY.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653796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5989320" cy="2560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SELECT region,
       AVG(charges) AS avg_charges
FROM insurance
GROUP BY region
ORDER BY avg_charges DESC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474720" cy="333756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331720"/>
            <a:ext cx="2880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GUIDÉE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788920"/>
            <a:ext cx="274320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33"/>
                </a:solidFill>
                <a:latin typeface="Arial"/>
              </a:rPr>
              <a:t>PROC SQL mental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PROC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PROC SQL → Databricks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4983480" cy="3337560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3891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438912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33"/>
                </a:solidFill>
                <a:latin typeface="Menlo"/>
              </a:rPr>
              <a:t>proc sql;
select region, mean(charges)
from insurance
group by region;
quit;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920240"/>
            <a:ext cx="5257800" cy="3337560"/>
          </a:xfrm>
          <a:prstGeom prst="rect">
            <a:avLst/>
          </a:prstGeom>
          <a:solidFill>
            <a:srgbClr val="12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194560"/>
            <a:ext cx="448056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PYTHON /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42032"/>
            <a:ext cx="4572000" cy="2057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SELECT region,
       AVG(charges)
FROM insurance
GROUP BY region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50992"/>
            <a:ext cx="98755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C'est probablement la transition la plus confortable pour un public SAS.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PROC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05 ·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Allez dans le notebook.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05_sql_basics.py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94760"/>
            <a:ext cx="9875520" cy="73152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050791"/>
            <a:ext cx="9144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Exécuter la création de vue, puis les cellules SQL.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Templates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MOT-CLÉ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À MODIFIER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Combien de lignes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nom de 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Moyenne des charges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AVG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colonne numérique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Par région 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GROUP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colonne segment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Fumeurs uniquement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condition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Exercice SQL.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Compléter des requêtes, pas partir d'une page blanche.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Changer GROUP BY region en GROUP BY smoker.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Ajouter WHERE age &gt; 50.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Trier avec ORDER BY avg_charges DESC.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Une requête SQL modifiée et interprétée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EXERCICE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29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05 · QCM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96926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8E7E1"/>
                </a:solidFill>
                <a:latin typeface="Arial"/>
              </a:rPr>
              <a:t>Que permet `createOrReplaceTempView("insurance")` 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87752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Créer une table SQL temporaire interrogeable dans le notebook.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36391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19272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Télécharger le fichier Kaggle.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9624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014215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Installer pandas.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62856"/>
            <a:ext cx="9784080" cy="530352"/>
          </a:xfrm>
          <a:prstGeom prst="rect">
            <a:avLst/>
          </a:prstGeom>
          <a:solidFill>
            <a:srgbClr val="F2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2004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745"/>
                </a:solidFill>
                <a:latin typeface="Arial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727448"/>
            <a:ext cx="85953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33"/>
                </a:solidFill>
                <a:latin typeface="Arial"/>
              </a:rPr>
              <a:t>Changer le type de la colonne charges.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9784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Réponse attendue: A · rendre le DataFrame accessible en 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QCM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Lire la table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22860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148840"/>
            <a:ext cx="182880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AVG_CHARGES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148840"/>
            <a:ext cx="4846320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LECTURE MÉTIER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87168"/>
            <a:ext cx="9418320" cy="420624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southeast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60320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14 850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région la plus élevée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northeast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035808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13 950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35808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écart modéré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11296"/>
            <a:ext cx="22402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A1A33"/>
                </a:solidFill>
                <a:latin typeface="Arial"/>
              </a:rPr>
              <a:t>northwest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511296"/>
            <a:ext cx="17830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12 700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511296"/>
            <a:ext cx="4800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06074"/>
                </a:solidFill>
                <a:latin typeface="Arial"/>
              </a:rPr>
              <a:t>segment plus bas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349240"/>
            <a:ext cx="8961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33"/>
                </a:solidFill>
                <a:latin typeface="Arial"/>
              </a:rPr>
              <a:t>On commente l'ordre de grandeur, pas seulement le classement.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05 ·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051560"/>
            <a:ext cx="1828800" cy="2331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600" b="1">
                <a:solidFill>
                  <a:srgbClr val="1A1A33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554480"/>
            <a:ext cx="4114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SECTION 06 · 20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74519"/>
            <a:ext cx="7589520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Challenge.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3337560"/>
            <a:ext cx="65836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33"/>
                </a:solidFill>
                <a:latin typeface="Arial"/>
              </a:rPr>
              <a:t>Identifier le segment le plus coûteux.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SECTION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MÉTHODE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Méthode attendue.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Le livrable est une table et une phrase métier.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Choose segment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0720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81527" y="2834640"/>
            <a:ext cx="1965960" cy="749808"/>
          </a:xfrm>
          <a:prstGeom prst="roundRect">
            <a:avLst/>
          </a:prstGeom>
          <a:solidFill>
            <a:srgbClr val="FF6745"/>
          </a:solidFill>
          <a:ln>
            <a:solidFill>
              <a:srgbClr val="FF6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9125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Filter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38927" y="3209544"/>
            <a:ext cx="182881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1324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Group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70648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44967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5469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Sort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02367" y="3209544"/>
            <a:ext cx="182880" cy="0"/>
          </a:xfrm>
          <a:prstGeom prst="line">
            <a:avLst/>
          </a:prstGeom>
          <a:ln w="12700">
            <a:solidFill>
              <a:srgbClr val="1A1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076688" y="2834640"/>
            <a:ext cx="1965960" cy="749808"/>
          </a:xfrm>
          <a:prstGeom prst="roundRect">
            <a:avLst/>
          </a:prstGeom>
          <a:solidFill>
            <a:srgbClr val="F2F1ED"/>
          </a:solidFill>
          <a:ln>
            <a:solidFill>
              <a:srgbClr val="F2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86415" y="3090672"/>
            <a:ext cx="174650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33"/>
                </a:solidFill>
                <a:latin typeface="Arial"/>
              </a:rPr>
              <a:t>Explain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MÉTHODE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Mini challenge.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12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12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Répondre à une question métier avec le chemin de son choix.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Choisir pandas, Spark ou SQL.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Créer un segment: smoker, region, sex ou age_segment.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Calculer la moyenne de charges.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379976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79976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Écrire une phrase d'interprétation.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Table triée + phrase métier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CHALLENGE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822960"/>
            <a:ext cx="5577840" cy="27413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1148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FF6745"/>
                </a:solidFill>
                <a:latin typeface="Arial"/>
              </a:rPr>
              <a:t>06 ·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95097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7E1"/>
                </a:solidFill>
                <a:latin typeface="Arial"/>
              </a:rPr>
              <a:t>Allez dans le notebook.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743200"/>
            <a:ext cx="82296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8E7E1"/>
                </a:solidFill>
                <a:latin typeface="Arial"/>
              </a:rPr>
              <a:t>06_guided_exercises.py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94760"/>
            <a:ext cx="9875520" cy="731520"/>
          </a:xfrm>
          <a:prstGeom prst="rect">
            <a:avLst/>
          </a:prstGeom>
          <a:solidFill>
            <a:srgbClr val="FF6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050791"/>
            <a:ext cx="9144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Faire le mini challenge final, puis écrire une phrase métier.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GRILLE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Grille de restitution.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ÉLÉMENT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EXEMPLE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utilisée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 + age_segment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Mesure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moyenne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AVG(charges)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Tri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descendant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coût le plus élevé en haut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11879"/>
            <a:ext cx="10927080" cy="384048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Phrase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interprétation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Les fumeurs &gt;50 ans ont les charges moyennes les plus élevées.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GRILLE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RESTITUTION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Restitution rapide.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8869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6074"/>
                </a:solidFill>
                <a:latin typeface="Arial"/>
              </a:rPr>
              <a:t>Activité guidée · 8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1051560" cy="105156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594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A1A33"/>
                </a:solidFill>
                <a:latin typeface="Arial"/>
              </a:rPr>
              <a:t>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993392"/>
            <a:ext cx="7863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Transformer l'exercice en apprentissage collectif.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063240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063240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33"/>
                </a:solidFill>
                <a:latin typeface="Arial"/>
              </a:rPr>
              <a:t>Deux binômes partagent leur segment.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3502152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Le groupe vérifie la mesure utilisée.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3941064"/>
            <a:ext cx="3200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941064"/>
            <a:ext cx="713232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06074"/>
                </a:solidFill>
                <a:latin typeface="Arial"/>
              </a:rPr>
              <a:t>On reformule une phrase métier propre.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5303520"/>
            <a:ext cx="8046720" cy="502920"/>
          </a:xfrm>
          <a:prstGeom prst="rect">
            <a:avLst/>
          </a:prstGeom>
          <a:solidFill>
            <a:srgbClr val="C5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5477256"/>
            <a:ext cx="740664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A1A33"/>
                </a:solidFill>
                <a:latin typeface="Arial"/>
              </a:rPr>
              <a:t>Sortie attendue · Une conclusion validée collectivement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RESTITUTION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-594360"/>
            <a:ext cx="4389120" cy="21571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438912"/>
            <a:ext cx="265176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96926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1A1A33"/>
                </a:solidFill>
                <a:latin typeface="Arial"/>
              </a:rPr>
              <a:t>Vous savez ouvrir,
exécuter,
manipuler,
interpréter.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886200"/>
            <a:ext cx="9509760" cy="411480"/>
          </a:xfrm>
          <a:prstGeom prst="rect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14215"/>
            <a:ext cx="8869680" cy="1188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6745"/>
                </a:solidFill>
                <a:latin typeface="Arial"/>
              </a:rPr>
              <a:t>Notebook · Python · pandas · Spark ·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80467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06074"/>
                </a:solidFill>
                <a:latin typeface="Arial"/>
              </a:rPr>
              <a:t>La semaine 2 pourra aller vers Python avancé sans perdre les repères SAS.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SYNTHÈSE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24688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595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33"/>
                </a:solidFill>
                <a:latin typeface="Arial"/>
              </a:rPr>
              <a:t>Checklist de fin de session.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0881360" cy="10972"/>
          </a:xfrm>
          <a:prstGeom prst="rect">
            <a:avLst/>
          </a:prstGeom>
          <a:solidFill>
            <a:srgbClr val="CDCA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COMPÉTENCE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PREUVE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1648" y="1874519"/>
            <a:ext cx="34594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FF6745"/>
                </a:solidFill>
                <a:latin typeface="Arial"/>
              </a:rPr>
              <a:t>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6946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Ouvrir un notebook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500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01_Intro_Databricks exécuté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1648" y="2258568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44951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Modifier du 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500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variable changée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734056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520439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Explorer une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500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head/info/describe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1648" y="3209544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95927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Filtrer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500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smoker ou BMI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8" y="3685031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471415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Agréger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500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groupby ou SQL GROUP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1648" y="4160519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946903"/>
            <a:ext cx="10789920" cy="7315"/>
          </a:xfrm>
          <a:prstGeom prst="rect">
            <a:avLst/>
          </a:prstGeom>
          <a:solidFill>
            <a:srgbClr val="BEBB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1A33"/>
                </a:solidFill>
                <a:latin typeface="Arial"/>
              </a:rPr>
              <a:t>Interpréter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500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phrase métier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8" y="4636007"/>
            <a:ext cx="343204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606074"/>
                </a:solidFill>
                <a:latin typeface="Arial"/>
              </a:rPr>
              <a:t>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CHECKLIST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" y="1371600"/>
            <a:ext cx="1005840" cy="1005840"/>
          </a:xfrm>
          <a:prstGeom prst="ellipse">
            <a:avLst/>
          </a:prstGeom>
          <a:solidFill>
            <a:srgbClr val="FFE1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7008" y="1673352"/>
            <a:ext cx="3200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A1A33"/>
                </a:solidFill>
                <a:latin typeface="Arial"/>
              </a:rPr>
              <a:t>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542032"/>
            <a:ext cx="9144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1A1A33"/>
                </a:solidFill>
                <a:latin typeface="Arial"/>
              </a:rPr>
              <a:t>Learner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972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600" b="0">
                <a:solidFill>
                  <a:srgbClr val="606074"/>
                </a:solidFill>
                <a:latin typeface="Arial"/>
              </a:rPr>
              <a:t>Fin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17320"/>
            <a:ext cx="6858000" cy="1463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1A1A33"/>
                </a:solidFill>
                <a:latin typeface="Arial"/>
              </a:rPr>
              <a:t>Je ne connais pas tout Python, mais je sais exécuter une analyse guidée dans Databricks.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2743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00" b="1">
                <a:solidFill>
                  <a:srgbClr val="606074"/>
                </a:solidFill>
                <a:latin typeface="Arial"/>
              </a:rPr>
              <a:t>06 · FIN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46520"/>
            <a:ext cx="4572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600" b="1">
                <a:solidFill>
                  <a:srgbClr val="606074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