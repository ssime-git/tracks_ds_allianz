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-822960"/>
            <a:ext cx="5577840" cy="27413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594360"/>
            <a:ext cx="3840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6745"/>
                </a:solidFill>
                <a:latin typeface="Arial"/>
              </a:rPr>
              <a:t>FORMATION · DATA SCIENTIST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8595360" cy="2331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E8E7E1"/>
                </a:solidFill>
                <a:latin typeface="Arial"/>
              </a:rPr>
              <a:t>Python
Fundamentals
in Databricks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709160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7E1"/>
                </a:solidFill>
                <a:latin typeface="Arial"/>
              </a:rPr>
              <a:t>SAS → Python · pandas · Spark · 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285232"/>
            <a:ext cx="1554480" cy="329184"/>
          </a:xfrm>
          <a:prstGeom prst="roundRect">
            <a:avLst/>
          </a:prstGeom>
          <a:solidFill>
            <a:srgbClr val="FF6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376672"/>
            <a:ext cx="11430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WEEK 01 /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37376"/>
            <a:ext cx="192024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E8E7E1"/>
                </a:solidFill>
                <a:latin typeface="Arial"/>
              </a:rPr>
              <a:t>LIORA · ALLIANZ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37376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E8E7E1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-594360"/>
            <a:ext cx="4389120" cy="21571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00 · CADRAGE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4 heures, un fil très guidé.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33856"/>
            <a:ext cx="88696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74"/>
                </a:solidFill>
                <a:latin typeface="Arial"/>
              </a:rPr>
              <a:t>Démonstration lente, exercice court, correction immédiate.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4114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6745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19"/>
            <a:ext cx="27432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33"/>
                </a:solidFill>
                <a:latin typeface="Arial"/>
              </a:rPr>
              <a:t>Databricks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874519"/>
            <a:ext cx="53035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74"/>
                </a:solidFill>
                <a:latin typeface="Arial"/>
              </a:rPr>
              <a:t>workspace, cluster, notebook, chemins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1874519"/>
            <a:ext cx="6400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1A1A33"/>
                </a:solidFill>
                <a:latin typeface="Arial"/>
              </a:rPr>
              <a:t>35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13432"/>
            <a:ext cx="4114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6745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313432"/>
            <a:ext cx="27432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33"/>
                </a:solidFill>
                <a:latin typeface="Arial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313432"/>
            <a:ext cx="53035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74"/>
                </a:solidFill>
                <a:latin typeface="Arial"/>
              </a:rPr>
              <a:t>variables, types, listes, fonctions, indentation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2313432"/>
            <a:ext cx="6400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1A1A33"/>
                </a:solidFill>
                <a:latin typeface="Arial"/>
              </a:rPr>
              <a:t>50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752344"/>
            <a:ext cx="4114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6745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752344"/>
            <a:ext cx="27432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33"/>
                </a:solidFill>
                <a:latin typeface="Arial"/>
              </a:rPr>
              <a:t>Pause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752344"/>
            <a:ext cx="53035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74"/>
                </a:solidFill>
                <a:latin typeface="Arial"/>
              </a:rPr>
              <a:t>respiration +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2752344"/>
            <a:ext cx="6400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1A1A33"/>
                </a:solidFill>
                <a:latin typeface="Arial"/>
              </a:rPr>
              <a:t>10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191256"/>
            <a:ext cx="4114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6745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191256"/>
            <a:ext cx="27432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33"/>
                </a:solidFill>
                <a:latin typeface="Arial"/>
              </a:rPr>
              <a:t>pandas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191256"/>
            <a:ext cx="53035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74"/>
                </a:solidFill>
                <a:latin typeface="Arial"/>
              </a:rPr>
              <a:t>charger, explorer, filtrer, agréger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3191256"/>
            <a:ext cx="6400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1A1A33"/>
                </a:solidFill>
                <a:latin typeface="Arial"/>
              </a:rPr>
              <a:t>60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630168"/>
            <a:ext cx="4114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6745"/>
                </a:solidFill>
                <a:latin typeface="Arial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30168"/>
            <a:ext cx="27432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33"/>
                </a:solidFill>
                <a:latin typeface="Arial"/>
              </a:rPr>
              <a:t>Spark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3630168"/>
            <a:ext cx="53035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74"/>
                </a:solidFill>
                <a:latin typeface="Arial"/>
              </a:rPr>
              <a:t>mêmes gestes sur Spark DataFrame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3630168"/>
            <a:ext cx="6400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1A1A33"/>
                </a:solidFill>
                <a:latin typeface="Arial"/>
              </a:rPr>
              <a:t>30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069079"/>
            <a:ext cx="4114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6745"/>
                </a:solidFill>
                <a:latin typeface="Arial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069079"/>
            <a:ext cx="27432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33"/>
                </a:solidFill>
                <a:latin typeface="Arial"/>
              </a:rPr>
              <a:t>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4069079"/>
            <a:ext cx="53035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74"/>
                </a:solidFill>
                <a:latin typeface="Arial"/>
              </a:rPr>
              <a:t>vue temporaire, COUNT, AVG, GROUP BY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4069079"/>
            <a:ext cx="6400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1A1A33"/>
                </a:solidFill>
                <a:latin typeface="Arial"/>
              </a:rPr>
              <a:t>35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507992"/>
            <a:ext cx="4114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6745"/>
                </a:solidFill>
                <a:latin typeface="Arial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507992"/>
            <a:ext cx="27432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33"/>
                </a:solidFill>
                <a:latin typeface="Arial"/>
              </a:rPr>
              <a:t>Challenge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4507992"/>
            <a:ext cx="53035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74"/>
                </a:solidFill>
                <a:latin typeface="Arial"/>
              </a:rPr>
              <a:t>segment le plus coûteux + restitution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4507992"/>
            <a:ext cx="6400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1A1A33"/>
                </a:solidFill>
                <a:latin typeface="Arial"/>
              </a:rPr>
              <a:t>20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SOMMAIRE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00 ·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Déroulé 4h.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88696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74"/>
                </a:solidFill>
                <a:latin typeface="Arial"/>
              </a:rPr>
              <a:t>Objectif: alterner explication, démo et pratique.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834640"/>
            <a:ext cx="1417320" cy="594360"/>
          </a:xfrm>
          <a:prstGeom prst="rect">
            <a:avLst/>
          </a:prstGeom>
          <a:solidFill>
            <a:srgbClr val="FF6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62656"/>
            <a:ext cx="123444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A1A33"/>
                </a:solidFill>
                <a:latin typeface="Arial"/>
              </a:rPr>
              <a:t>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11880"/>
            <a:ext cx="1234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A1A33"/>
                </a:solidFill>
                <a:latin typeface="Arial"/>
              </a:rPr>
              <a:t>Databricks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834640"/>
            <a:ext cx="1417320" cy="594360"/>
          </a:xfrm>
          <a:prstGeom prst="rect">
            <a:avLst/>
          </a:prstGeom>
          <a:solidFill>
            <a:srgbClr val="76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962656"/>
            <a:ext cx="123444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A1A33"/>
                </a:solidFill>
                <a:latin typeface="Arial"/>
              </a:rPr>
              <a:t>0:35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611880"/>
            <a:ext cx="1234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A1A33"/>
                </a:solidFill>
                <a:latin typeface="Arial"/>
              </a:rPr>
              <a:t>Python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2834640"/>
            <a:ext cx="1417320" cy="594360"/>
          </a:xfrm>
          <a:prstGeom prst="rect">
            <a:avLst/>
          </a:prstGeom>
          <a:solidFill>
            <a:srgbClr val="DD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39" y="2962656"/>
            <a:ext cx="123444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A1A33"/>
                </a:solidFill>
                <a:latin typeface="Arial"/>
              </a:rPr>
              <a:t>1:25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3611880"/>
            <a:ext cx="1234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A1A33"/>
                </a:solidFill>
                <a:latin typeface="Arial"/>
              </a:rPr>
              <a:t>Pause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2834640"/>
            <a:ext cx="1417320" cy="594360"/>
          </a:xfrm>
          <a:prstGeom prst="rect">
            <a:avLst/>
          </a:prstGeom>
          <a:solidFill>
            <a:srgbClr val="FF6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2962656"/>
            <a:ext cx="123444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A1A33"/>
                </a:solidFill>
                <a:latin typeface="Arial"/>
              </a:rPr>
              <a:t>1:35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611880"/>
            <a:ext cx="1234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A1A33"/>
                </a:solidFill>
                <a:latin typeface="Arial"/>
              </a:rPr>
              <a:t>pandas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2834640"/>
            <a:ext cx="1417320" cy="594360"/>
          </a:xfrm>
          <a:prstGeom prst="rect">
            <a:avLst/>
          </a:prstGeom>
          <a:solidFill>
            <a:srgbClr val="76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2962656"/>
            <a:ext cx="123444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A1A33"/>
                </a:solidFill>
                <a:latin typeface="Arial"/>
              </a:rPr>
              <a:t>2:35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611880"/>
            <a:ext cx="1234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A1A33"/>
                </a:solidFill>
                <a:latin typeface="Arial"/>
              </a:rPr>
              <a:t>Spark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2834640"/>
            <a:ext cx="1417320" cy="594360"/>
          </a:xfrm>
          <a:prstGeom prst="rect">
            <a:avLst/>
          </a:prstGeom>
          <a:solidFill>
            <a:srgbClr val="FF6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2962656"/>
            <a:ext cx="123444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A1A33"/>
                </a:solidFill>
                <a:latin typeface="Arial"/>
              </a:rPr>
              <a:t>3:05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611880"/>
            <a:ext cx="1234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A1A33"/>
                </a:solidFill>
                <a:latin typeface="Arial"/>
              </a:rPr>
              <a:t>SQL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87000" y="2834640"/>
            <a:ext cx="1417320" cy="594360"/>
          </a:xfrm>
          <a:prstGeom prst="rect">
            <a:avLst/>
          </a:prstGeom>
          <a:solidFill>
            <a:srgbClr val="C5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78440" y="2962656"/>
            <a:ext cx="123444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A1A33"/>
                </a:solidFill>
                <a:latin typeface="Arial"/>
              </a:rPr>
              <a:t>3:40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3611880"/>
            <a:ext cx="1234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A1A33"/>
                </a:solidFill>
                <a:latin typeface="Arial"/>
              </a:rPr>
              <a:t>Challenge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TIMING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" y="1371600"/>
            <a:ext cx="1005840" cy="1005840"/>
          </a:xfrm>
          <a:prstGeom prst="ellipse">
            <a:avLst/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167335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A1A33"/>
                </a:solidFill>
                <a:latin typeface="Arial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542032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A1A33"/>
                </a:solidFill>
                <a:latin typeface="Arial"/>
              </a:rPr>
              <a:t>SAS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61488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606074"/>
                </a:solidFill>
                <a:latin typeface="Arial"/>
              </a:rPr>
              <a:t>Analyste métier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17320"/>
            <a:ext cx="6858000" cy="1463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1A1A33"/>
                </a:solidFill>
                <a:latin typeface="Arial"/>
              </a:rPr>
              <a:t>Je connais SAS. Je veux retrouver mes repères sans devenir développeur Python.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00 · PUBLIC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-594360"/>
            <a:ext cx="4389120" cy="21571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38912"/>
            <a:ext cx="26517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00 · OBJECTIF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9692640" cy="1417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A1A33"/>
                </a:solidFill>
                <a:latin typeface="Arial"/>
              </a:rPr>
              <a:t>Même logique analytique.
Nouvel environnement.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886200"/>
            <a:ext cx="9509760" cy="411480"/>
          </a:xfrm>
          <a:prstGeom prst="rect">
            <a:avLst/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014215"/>
            <a:ext cx="8869680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6745"/>
                </a:solidFill>
                <a:latin typeface="Arial"/>
              </a:rPr>
              <a:t>SAS program → notebook · SAS dataset → DataFrame · PROC SQL →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617720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74"/>
                </a:solidFill>
                <a:latin typeface="Arial"/>
              </a:rPr>
              <a:t>On garde les réflexes métier: lire, filtrer, agréger, interpréter.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00 · OBJECTIF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00 ·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SAS → Databricks.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34594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5008" y="1874519"/>
            <a:ext cx="34594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DATABRICKS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51648" y="1874519"/>
            <a:ext cx="34594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À RETENIR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569463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258568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SAS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5008" y="2258568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Notebook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1648" y="2258568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Code + texte + résultats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44951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34056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DATA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5008" y="2734056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pandas / Spark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1648" y="2734056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Transformation de 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520439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09544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PROC 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5008" y="3209544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SQL cell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1648" y="3209544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Langage familier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995927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685031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SAS Dataset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5008" y="3685031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DataFrame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51648" y="3685031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Lignes + colonnes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087367"/>
            <a:ext cx="10927080" cy="384048"/>
          </a:xfrm>
          <a:prstGeom prst="rect">
            <a:avLst/>
          </a:prstGeom>
          <a:solidFill>
            <a:srgbClr val="C5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471415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160519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Library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5008" y="4160519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Catalog / 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51648" y="4160519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Emplacement des données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00 · MAPPING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-594360"/>
            <a:ext cx="4389120" cy="21571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051560"/>
            <a:ext cx="1828800" cy="2331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600" b="1">
                <a:solidFill>
                  <a:srgbClr val="1A1A33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554480"/>
            <a:ext cx="4114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A1A33"/>
                </a:solidFill>
                <a:latin typeface="Arial"/>
              </a:rPr>
              <a:t>SECTION 01 · 35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874519"/>
            <a:ext cx="7589520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A1A33"/>
                </a:solidFill>
                <a:latin typeface="Arial"/>
              </a:rPr>
              <a:t>Databricks.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82112" y="3337560"/>
            <a:ext cx="65836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33"/>
                </a:solidFill>
                <a:latin typeface="Arial"/>
              </a:rPr>
              <a:t>Se repérer avant de coder.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SECTION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01 ·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Le parcours d'une analyse.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88696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74"/>
                </a:solidFill>
                <a:latin typeface="Arial"/>
              </a:rPr>
              <a:t>Quatre objets visibles, pas d'architecture complexe.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834640"/>
            <a:ext cx="1965960" cy="749808"/>
          </a:xfrm>
          <a:prstGeom prst="roundRect">
            <a:avLst/>
          </a:prstGeom>
          <a:solidFill>
            <a:srgbClr val="F2F1ED"/>
          </a:solidFill>
          <a:ln>
            <a:solidFill>
              <a:srgbClr val="F2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090672"/>
            <a:ext cx="174650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A1A33"/>
                </a:solidFill>
                <a:latin typeface="Arial"/>
              </a:rPr>
              <a:t>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07208" y="3209544"/>
            <a:ext cx="182880" cy="0"/>
          </a:xfrm>
          <a:prstGeom prst="line">
            <a:avLst/>
          </a:prstGeom>
          <a:ln w="12700">
            <a:solidFill>
              <a:srgbClr val="1A1A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81527" y="2834640"/>
            <a:ext cx="1965960" cy="749808"/>
          </a:xfrm>
          <a:prstGeom prst="roundRect">
            <a:avLst/>
          </a:prstGeom>
          <a:solidFill>
            <a:srgbClr val="FF6745"/>
          </a:solidFill>
          <a:ln>
            <a:solidFill>
              <a:srgbClr val="FF6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91256" y="3090672"/>
            <a:ext cx="174650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Notebook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38927" y="3209544"/>
            <a:ext cx="182881" cy="0"/>
          </a:xfrm>
          <a:prstGeom prst="line">
            <a:avLst/>
          </a:prstGeom>
          <a:ln w="12700">
            <a:solidFill>
              <a:srgbClr val="1A1A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13248" y="2834640"/>
            <a:ext cx="1965960" cy="749808"/>
          </a:xfrm>
          <a:prstGeom prst="roundRect">
            <a:avLst/>
          </a:prstGeom>
          <a:solidFill>
            <a:srgbClr val="F2F1ED"/>
          </a:solidFill>
          <a:ln>
            <a:solidFill>
              <a:srgbClr val="F2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22976" y="3090672"/>
            <a:ext cx="174650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A1A33"/>
                </a:solidFill>
                <a:latin typeface="Arial"/>
              </a:rPr>
              <a:t>Cluster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70648" y="3209544"/>
            <a:ext cx="182880" cy="0"/>
          </a:xfrm>
          <a:prstGeom prst="line">
            <a:avLst/>
          </a:prstGeom>
          <a:ln w="12700">
            <a:solidFill>
              <a:srgbClr val="1A1A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44967" y="2834640"/>
            <a:ext cx="1965960" cy="749808"/>
          </a:xfrm>
          <a:prstGeom prst="roundRect">
            <a:avLst/>
          </a:prstGeom>
          <a:solidFill>
            <a:srgbClr val="F2F1ED"/>
          </a:solidFill>
          <a:ln>
            <a:solidFill>
              <a:srgbClr val="F2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54695" y="3090672"/>
            <a:ext cx="174650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A1A33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01 · WORKSPACE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01 · REPÈRES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Les zones à reconnaître.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057400"/>
            <a:ext cx="3486911" cy="1243584"/>
          </a:xfrm>
          <a:prstGeom prst="rect">
            <a:avLst/>
          </a:prstGeom>
          <a:solidFill>
            <a:srgbClr val="F2F1ED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221992"/>
            <a:ext cx="315772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FF6745"/>
                </a:solidFill>
                <a:latin typeface="Arial"/>
              </a:rPr>
              <a:t>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315772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33"/>
                </a:solidFill>
                <a:latin typeface="Arial"/>
              </a:rPr>
              <a:t>Dossiers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807208"/>
            <a:ext cx="3157728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/Shared/training et notebooks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7304" y="2057400"/>
            <a:ext cx="3486911" cy="1243584"/>
          </a:xfrm>
          <a:prstGeom prst="rect">
            <a:avLst/>
          </a:prstGeom>
          <a:solidFill>
            <a:srgbClr val="F2F1ED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1896" y="2221992"/>
            <a:ext cx="315772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FF6745"/>
                </a:solidFill>
                <a:latin typeface="Arial"/>
              </a:rPr>
              <a:t>COMPUTE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1896" y="2450592"/>
            <a:ext cx="315772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33"/>
                </a:solidFill>
                <a:latin typeface="Arial"/>
              </a:rPr>
              <a:t>Cluster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1896" y="2807208"/>
            <a:ext cx="3157728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Le moteur d'exécution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0247" y="2057400"/>
            <a:ext cx="3486911" cy="1243584"/>
          </a:xfrm>
          <a:prstGeom prst="rect">
            <a:avLst/>
          </a:prstGeom>
          <a:solidFill>
            <a:srgbClr val="F2F1ED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4839" y="2221992"/>
            <a:ext cx="315772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FF6745"/>
                </a:solidFill>
                <a:latin typeface="Arial"/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4839" y="2450592"/>
            <a:ext cx="315772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33"/>
                </a:solidFill>
                <a:latin typeface="Arial"/>
              </a:rPr>
              <a:t>Fichiers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839" y="2807208"/>
            <a:ext cx="3157728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insurance.csv dans FileStore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685032"/>
            <a:ext cx="3486911" cy="1243584"/>
          </a:xfrm>
          <a:prstGeom prst="rect">
            <a:avLst/>
          </a:prstGeom>
          <a:solidFill>
            <a:srgbClr val="F2F1ED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849624"/>
            <a:ext cx="315772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FF6745"/>
                </a:solidFill>
                <a:latin typeface="Arial"/>
              </a:rPr>
              <a:t>NOTEBOOK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78224"/>
            <a:ext cx="315772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33"/>
                </a:solidFill>
                <a:latin typeface="Arial"/>
              </a:rPr>
              <a:t>Cellules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4434840"/>
            <a:ext cx="3157728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Markdown, Python, SQL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7304" y="3685032"/>
            <a:ext cx="3486911" cy="1243584"/>
          </a:xfrm>
          <a:prstGeom prst="rect">
            <a:avLst/>
          </a:prstGeom>
          <a:solidFill>
            <a:srgbClr val="F2F1ED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1896" y="3849624"/>
            <a:ext cx="315772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FF6745"/>
                </a:solidFill>
                <a:latin typeface="Arial"/>
              </a:rPr>
              <a:t>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1896" y="4078224"/>
            <a:ext cx="315772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33"/>
                </a:solidFill>
                <a:latin typeface="Arial"/>
              </a:rPr>
              <a:t>Résultat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1896" y="4434840"/>
            <a:ext cx="3157728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Sortie sous la cellule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0247" y="3685032"/>
            <a:ext cx="3486911" cy="1243584"/>
          </a:xfrm>
          <a:prstGeom prst="rect">
            <a:avLst/>
          </a:prstGeom>
          <a:solidFill>
            <a:srgbClr val="F2F1ED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4839" y="3849624"/>
            <a:ext cx="315772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FF6745"/>
                </a:solidFill>
                <a:latin typeface="Arial"/>
              </a:rPr>
              <a:t>SHARE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4839" y="4078224"/>
            <a:ext cx="315772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33"/>
                </a:solidFill>
                <a:latin typeface="Arial"/>
              </a:rPr>
              <a:t>Collaboration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4839" y="4434840"/>
            <a:ext cx="3157728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Même support pour tous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01 · REPÈRES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-594360"/>
            <a:ext cx="4389120" cy="21571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38912"/>
            <a:ext cx="26517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01 · DÉMO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9692640" cy="1417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A1A33"/>
                </a:solidFill>
                <a:latin typeface="Arial"/>
              </a:rPr>
              <a:t>Un notebook s'exécute
cellule par cellule.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886200"/>
            <a:ext cx="9509760" cy="411480"/>
          </a:xfrm>
          <a:prstGeom prst="rect">
            <a:avLst/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014215"/>
            <a:ext cx="8869680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6745"/>
                </a:solidFill>
                <a:latin typeface="Arial"/>
              </a:rPr>
              <a:t>DÉMO LIVE · ouvrir · attacher cluster · exécuter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617720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74"/>
                </a:solidFill>
                <a:latin typeface="Arial"/>
              </a:rPr>
              <a:t>Ne pas tout lancer au début: on observe le résultat après chaque étape.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01 · DÉMO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01 · CHEMINS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Deux chemins pour un même fichier.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34594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USAGE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5008" y="1874519"/>
            <a:ext cx="34594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CHEMIN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51648" y="1874519"/>
            <a:ext cx="34594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POURQUOI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569463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258568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pandas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5008" y="2258568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/dbfs/FileStore/tables/insurance.csv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1648" y="2258568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Lecture locale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44951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34056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Spark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5008" y="2734056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/FileStore/tables/insurance.csv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1648" y="2734056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Lecture Spark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520439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09544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Databricks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5008" y="3209544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FileStore/tables/insurance.csv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1648" y="3209544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Upload visible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01 · CHEMINS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-594360"/>
            <a:ext cx="4389120" cy="21571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051560"/>
            <a:ext cx="1828800" cy="2331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600" b="1">
                <a:solidFill>
                  <a:srgbClr val="1A1A33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554480"/>
            <a:ext cx="4114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A1A33"/>
                </a:solidFill>
                <a:latin typeface="Arial"/>
              </a:rPr>
              <a:t>SECTION 02 · 50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874519"/>
            <a:ext cx="7589520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A1A33"/>
                </a:solidFill>
                <a:latin typeface="Arial"/>
              </a:rPr>
              <a:t>Python basics.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82112" y="3337560"/>
            <a:ext cx="65836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33"/>
                </a:solidFill>
                <a:latin typeface="Arial"/>
              </a:rPr>
              <a:t>Lire du code analytique simple.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SECTION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02 · VARIABLE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Variable.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6537960" cy="333756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5989320" cy="2560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age = 45
region = "southwest"
premium = 1200.50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965960"/>
            <a:ext cx="3474720" cy="3337560"/>
          </a:xfrm>
          <a:prstGeom prst="rect">
            <a:avLst/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331720"/>
            <a:ext cx="28803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LECTURE GUIDÉE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788920"/>
            <a:ext cx="2743200" cy="1645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33"/>
                </a:solidFill>
                <a:latin typeface="Arial"/>
              </a:rPr>
              <a:t>Le signe égal stocke une valeur dans un nom.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02 · VARIABLE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02 ·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4 types à reconnaître.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34594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5008" y="1874519"/>
            <a:ext cx="34594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EXEMPLE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51648" y="1874519"/>
            <a:ext cx="34594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USAGE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569463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258568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5008" y="2258568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1648" y="2258568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âge, compteur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44951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34056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float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5008" y="2734056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27.5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1648" y="2734056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BMI, montant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520439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09544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str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5008" y="3209544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"southwest"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1648" y="3209544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modalité texte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995927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685031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bool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5008" y="3685031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True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51648" y="3685031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condition vraie/fausse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02 · TYPES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02 · LISTE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Liste.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6537960" cy="333756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5989320" cy="2560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regions = ["northeast", "northwest",
           "southeast", "southwest"]
regions[0]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965960"/>
            <a:ext cx="3474720" cy="3337560"/>
          </a:xfrm>
          <a:prstGeom prst="rect">
            <a:avLst/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331720"/>
            <a:ext cx="28803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LECTURE GUIDÉE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788920"/>
            <a:ext cx="2743200" cy="1645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33"/>
                </a:solidFill>
                <a:latin typeface="Arial"/>
              </a:rPr>
              <a:t>Une liste regroupe plusieurs valeurs possibles.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02 · LISTE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02 · CONDITION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Condition.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6537960" cy="333756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5989320" cy="2560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if age &gt; 50:
    print("senior")
else:
    print("non senior")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965960"/>
            <a:ext cx="3474720" cy="3337560"/>
          </a:xfrm>
          <a:prstGeom prst="rect">
            <a:avLst/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331720"/>
            <a:ext cx="28803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LECTURE GUIDÉE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788920"/>
            <a:ext cx="2743200" cy="1645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33"/>
                </a:solidFill>
                <a:latin typeface="Arial"/>
              </a:rPr>
              <a:t>L'indentation indique les lignes contrôlées par le if.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02 ·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02 · FONCTION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Fonction.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6537960" cy="333756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5989320" cy="2560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def annual_cost(monthly_cost):
    return monthly_cost * 12
annual_cost(120)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965960"/>
            <a:ext cx="3474720" cy="3337560"/>
          </a:xfrm>
          <a:prstGeom prst="rect">
            <a:avLst/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331720"/>
            <a:ext cx="28803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LECTURE GUIDÉE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788920"/>
            <a:ext cx="2743200" cy="1645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33"/>
                </a:solidFill>
                <a:latin typeface="Arial"/>
              </a:rPr>
              <a:t>Une règle métier nommée, réutilisable.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02 · FONCTION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02 · EXERCICE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Atelier Python guidé.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057400"/>
            <a:ext cx="3486911" cy="1243584"/>
          </a:xfrm>
          <a:prstGeom prst="rect">
            <a:avLst/>
          </a:prstGeom>
          <a:solidFill>
            <a:srgbClr val="F2F1ED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221992"/>
            <a:ext cx="315772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FF6745"/>
                </a:solidFill>
                <a:latin typeface="Arial"/>
              </a:rPr>
              <a:t>ÉTAPE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315772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33"/>
                </a:solidFill>
                <a:latin typeface="Arial"/>
              </a:rPr>
              <a:t>Modifier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807208"/>
            <a:ext cx="3157728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Changer age, region, premium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7304" y="2057400"/>
            <a:ext cx="3486911" cy="1243584"/>
          </a:xfrm>
          <a:prstGeom prst="rect">
            <a:avLst/>
          </a:prstGeom>
          <a:solidFill>
            <a:srgbClr val="F2F1ED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1896" y="2221992"/>
            <a:ext cx="315772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FF6745"/>
                </a:solidFill>
                <a:latin typeface="Arial"/>
              </a:rPr>
              <a:t>ÉTAPE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1896" y="2450592"/>
            <a:ext cx="315772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33"/>
                </a:solidFill>
                <a:latin typeface="Arial"/>
              </a:rPr>
              <a:t>Exécuter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1896" y="2807208"/>
            <a:ext cx="3157728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Observer chaque sortie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0247" y="2057400"/>
            <a:ext cx="3486911" cy="1243584"/>
          </a:xfrm>
          <a:prstGeom prst="rect">
            <a:avLst/>
          </a:prstGeom>
          <a:solidFill>
            <a:srgbClr val="F2F1ED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4839" y="2221992"/>
            <a:ext cx="315772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FF6745"/>
                </a:solidFill>
                <a:latin typeface="Arial"/>
              </a:rPr>
              <a:t>ÉTAPE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4839" y="2450592"/>
            <a:ext cx="315772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33"/>
                </a:solidFill>
                <a:latin typeface="Arial"/>
              </a:rPr>
              <a:t>Expliquer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839" y="2807208"/>
            <a:ext cx="3157728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Lire la ligne avec ses mots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02 · EXERCICE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" y="1371600"/>
            <a:ext cx="1005840" cy="1005840"/>
          </a:xfrm>
          <a:prstGeom prst="ellipse">
            <a:avLst/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167335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A1A33"/>
                </a:solidFill>
                <a:latin typeface="Arial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542032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A1A33"/>
                </a:solidFill>
                <a:latin typeface="Arial"/>
              </a:rPr>
              <a:t>SAS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61488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606074"/>
                </a:solidFill>
                <a:latin typeface="Arial"/>
              </a:rPr>
              <a:t>Analyste métier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17320"/>
            <a:ext cx="6858000" cy="1463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1A1A33"/>
                </a:solidFill>
                <a:latin typeface="Arial"/>
              </a:rPr>
              <a:t>Si je sais lire un IF SAS, je peux lire un IF Python. Le symbole change, la logique reste.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02 · RASSURER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-594360"/>
            <a:ext cx="4389120" cy="21571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051560"/>
            <a:ext cx="1828800" cy="2331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600" b="1">
                <a:solidFill>
                  <a:srgbClr val="1A1A33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554480"/>
            <a:ext cx="4114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A1A33"/>
                </a:solidFill>
                <a:latin typeface="Arial"/>
              </a:rPr>
              <a:t>SECTION 03 · 60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874519"/>
            <a:ext cx="7589520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A1A33"/>
                </a:solidFill>
                <a:latin typeface="Arial"/>
              </a:rPr>
              <a:t>pandas.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82112" y="3337560"/>
            <a:ext cx="65836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33"/>
                </a:solidFill>
                <a:latin typeface="Arial"/>
              </a:rPr>
              <a:t>Manipuler une table comme un analyste.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SECTION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-594360"/>
            <a:ext cx="4389120" cy="21571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38912"/>
            <a:ext cx="26517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03 · DATAFRAME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9692640" cy="1417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A1A33"/>
                </a:solidFill>
                <a:latin typeface="Arial"/>
              </a:rPr>
              <a:t>Un DataFrame est une 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886200"/>
            <a:ext cx="9509760" cy="411480"/>
          </a:xfrm>
          <a:prstGeom prst="rect">
            <a:avLst/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014215"/>
            <a:ext cx="8869680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6745"/>
                </a:solidFill>
                <a:latin typeface="Arial"/>
              </a:rPr>
              <a:t>SAS dataset · Excel sheet · pandas DataFrame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617720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74"/>
                </a:solidFill>
                <a:latin typeface="Arial"/>
              </a:rPr>
              <a:t>Lignes, colonnes, types, aperçu, statistiques.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03 · DATAFRAME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03 ·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Charger le CSV.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6537960" cy="333756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5989320" cy="2560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import pandas as pd
df = pd.read_csv(
    "/dbfs/FileStore/tables/insurance.csv"
)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965960"/>
            <a:ext cx="3474720" cy="3337560"/>
          </a:xfrm>
          <a:prstGeom prst="rect">
            <a:avLst/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331720"/>
            <a:ext cx="28803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LECTURE GUIDÉE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788920"/>
            <a:ext cx="2743200" cy="1645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33"/>
                </a:solidFill>
                <a:latin typeface="Arial"/>
              </a:rPr>
              <a:t>Une ligne crée la table df.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03 · 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03 ·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Workflow pandas.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88696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74"/>
                </a:solidFill>
                <a:latin typeface="Arial"/>
              </a:rPr>
              <a:t>Chaque notebook répète ce cycle.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834640"/>
            <a:ext cx="1965960" cy="749808"/>
          </a:xfrm>
          <a:prstGeom prst="roundRect">
            <a:avLst/>
          </a:prstGeom>
          <a:solidFill>
            <a:srgbClr val="F2F1ED"/>
          </a:solidFill>
          <a:ln>
            <a:solidFill>
              <a:srgbClr val="F2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090672"/>
            <a:ext cx="174650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A1A33"/>
                </a:solidFill>
                <a:latin typeface="Arial"/>
              </a:rPr>
              <a:t>Load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07208" y="3209544"/>
            <a:ext cx="182880" cy="0"/>
          </a:xfrm>
          <a:prstGeom prst="line">
            <a:avLst/>
          </a:prstGeom>
          <a:ln w="12700">
            <a:solidFill>
              <a:srgbClr val="1A1A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81527" y="2834640"/>
            <a:ext cx="1965960" cy="749808"/>
          </a:xfrm>
          <a:prstGeom prst="roundRect">
            <a:avLst/>
          </a:prstGeom>
          <a:solidFill>
            <a:srgbClr val="FF6745"/>
          </a:solidFill>
          <a:ln>
            <a:solidFill>
              <a:srgbClr val="FF6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91256" y="3090672"/>
            <a:ext cx="174650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Inspect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38927" y="3209544"/>
            <a:ext cx="182881" cy="0"/>
          </a:xfrm>
          <a:prstGeom prst="line">
            <a:avLst/>
          </a:prstGeom>
          <a:ln w="12700">
            <a:solidFill>
              <a:srgbClr val="1A1A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13248" y="2834640"/>
            <a:ext cx="1965960" cy="749808"/>
          </a:xfrm>
          <a:prstGeom prst="roundRect">
            <a:avLst/>
          </a:prstGeom>
          <a:solidFill>
            <a:srgbClr val="F2F1ED"/>
          </a:solidFill>
          <a:ln>
            <a:solidFill>
              <a:srgbClr val="F2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22976" y="3090672"/>
            <a:ext cx="174650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A1A33"/>
                </a:solidFill>
                <a:latin typeface="Arial"/>
              </a:rPr>
              <a:t>Filter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70648" y="3209544"/>
            <a:ext cx="182880" cy="0"/>
          </a:xfrm>
          <a:prstGeom prst="line">
            <a:avLst/>
          </a:prstGeom>
          <a:ln w="12700">
            <a:solidFill>
              <a:srgbClr val="1A1A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44967" y="2834640"/>
            <a:ext cx="1965960" cy="749808"/>
          </a:xfrm>
          <a:prstGeom prst="roundRect">
            <a:avLst/>
          </a:prstGeom>
          <a:solidFill>
            <a:srgbClr val="F2F1ED"/>
          </a:solidFill>
          <a:ln>
            <a:solidFill>
              <a:srgbClr val="F2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54695" y="3090672"/>
            <a:ext cx="174650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A1A33"/>
                </a:solidFill>
                <a:latin typeface="Arial"/>
              </a:rPr>
              <a:t>Group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802367" y="3209544"/>
            <a:ext cx="182880" cy="0"/>
          </a:xfrm>
          <a:prstGeom prst="line">
            <a:avLst/>
          </a:prstGeom>
          <a:ln w="12700">
            <a:solidFill>
              <a:srgbClr val="1A1A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076688" y="2834640"/>
            <a:ext cx="1965960" cy="749808"/>
          </a:xfrm>
          <a:prstGeom prst="roundRect">
            <a:avLst/>
          </a:prstGeom>
          <a:solidFill>
            <a:srgbClr val="F2F1ED"/>
          </a:solidFill>
          <a:ln>
            <a:solidFill>
              <a:srgbClr val="F2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86415" y="3090672"/>
            <a:ext cx="174650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A1A33"/>
                </a:solidFill>
                <a:latin typeface="Arial"/>
              </a:rPr>
              <a:t>Interpret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03 ·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03 · INSPECT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Explorer.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6537960" cy="333756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5989320" cy="2560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df.head()
df.info()
df.describe()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965960"/>
            <a:ext cx="3474720" cy="3337560"/>
          </a:xfrm>
          <a:prstGeom prst="rect">
            <a:avLst/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331720"/>
            <a:ext cx="28803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LECTURE GUIDÉE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788920"/>
            <a:ext cx="2743200" cy="1645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33"/>
                </a:solidFill>
                <a:latin typeface="Arial"/>
              </a:rPr>
              <a:t>Trois réflexes avant de conclure.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03 · INSPECT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03 · SELECT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Sélectionner.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6537960" cy="333756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5989320" cy="2560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df[["age", "charges"]]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965960"/>
            <a:ext cx="3474720" cy="3337560"/>
          </a:xfrm>
          <a:prstGeom prst="rect">
            <a:avLst/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331720"/>
            <a:ext cx="28803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LECTURE GUIDÉE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788920"/>
            <a:ext cx="2743200" cy="1645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33"/>
                </a:solidFill>
                <a:latin typeface="Arial"/>
              </a:rPr>
              <a:t>On garde seulement les colonnes utiles.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03 · 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03 ·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Filtrer.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6537960" cy="333756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5989320" cy="2560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df[df["smoker"] == "yes"]
df[df["bmi"] &gt; 30]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965960"/>
            <a:ext cx="3474720" cy="3337560"/>
          </a:xfrm>
          <a:prstGeom prst="rect">
            <a:avLst/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331720"/>
            <a:ext cx="28803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LECTURE GUIDÉE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788920"/>
            <a:ext cx="2743200" cy="1645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33"/>
                </a:solidFill>
                <a:latin typeface="Arial"/>
              </a:rPr>
              <a:t>La condition garde certaines lignes.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03 ·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03 · GROUPBY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Agréger.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6537960" cy="333756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5989320" cy="2560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df.groupby("region")["charges"].mean()
df.groupby("smoker")["charges"].mean()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965960"/>
            <a:ext cx="3474720" cy="3337560"/>
          </a:xfrm>
          <a:prstGeom prst="rect">
            <a:avLst/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331720"/>
            <a:ext cx="28803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LECTURE GUIDÉE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788920"/>
            <a:ext cx="2743200" cy="1645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33"/>
                </a:solidFill>
                <a:latin typeface="Arial"/>
              </a:rPr>
              <a:t>PROC MEANS mental model: class puis moyenne.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03 · GROUPBY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03 ·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SAS → pandas.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34594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5008" y="1874519"/>
            <a:ext cx="34594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PANDAS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51648" y="1874519"/>
            <a:ext cx="34594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GESTE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569463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258568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PROC 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5008" y="2258568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head()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1648" y="2258568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prévisualiser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44951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34056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PROC CONTENTS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5008" y="2734056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info()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1648" y="2734056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structure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520439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09544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WHERE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5008" y="3209544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df[condition]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1648" y="3209544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filtrer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995927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685031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PROC MEANS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5008" y="3685031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groupby().mean()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51648" y="3685031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agréger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087367"/>
            <a:ext cx="10927080" cy="384048"/>
          </a:xfrm>
          <a:prstGeom prst="rect">
            <a:avLst/>
          </a:prstGeom>
          <a:solidFill>
            <a:srgbClr val="C5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471415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160519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PROC SORT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5008" y="4160519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sort_values()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51648" y="4160519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trier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03 · MAPPING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03 · EXERCICE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Atelier pandas guidé.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057400"/>
            <a:ext cx="3486911" cy="1243584"/>
          </a:xfrm>
          <a:prstGeom prst="rect">
            <a:avLst/>
          </a:prstGeom>
          <a:solidFill>
            <a:srgbClr val="F2F1ED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221992"/>
            <a:ext cx="315772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FF6745"/>
                </a:solidFill>
                <a:latin typeface="Arial"/>
              </a:rPr>
              <a:t>EXPLORER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315772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33"/>
                </a:solidFill>
                <a:latin typeface="Arial"/>
              </a:rPr>
              <a:t>5 premières lignes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807208"/>
            <a:ext cx="3157728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head, columns, describe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7304" y="2057400"/>
            <a:ext cx="3486911" cy="1243584"/>
          </a:xfrm>
          <a:prstGeom prst="rect">
            <a:avLst/>
          </a:prstGeom>
          <a:solidFill>
            <a:srgbClr val="F2F1ED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1896" y="2221992"/>
            <a:ext cx="315772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FF6745"/>
                </a:solidFill>
                <a:latin typeface="Arial"/>
              </a:rPr>
              <a:t>FILTRER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1896" y="2450592"/>
            <a:ext cx="315772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33"/>
                </a:solidFill>
                <a:latin typeface="Arial"/>
              </a:rPr>
              <a:t>Segments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1896" y="2807208"/>
            <a:ext cx="3157728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age &gt; 50, smoker, BMI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0247" y="2057400"/>
            <a:ext cx="3486911" cy="1243584"/>
          </a:xfrm>
          <a:prstGeom prst="rect">
            <a:avLst/>
          </a:prstGeom>
          <a:solidFill>
            <a:srgbClr val="F2F1ED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4839" y="2221992"/>
            <a:ext cx="315772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FF6745"/>
                </a:solidFill>
                <a:latin typeface="Arial"/>
              </a:rPr>
              <a:t>AGRÉGER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4839" y="2450592"/>
            <a:ext cx="315772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33"/>
                </a:solidFill>
                <a:latin typeface="Arial"/>
              </a:rPr>
              <a:t>Coûts moyens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839" y="2807208"/>
            <a:ext cx="3157728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region, smoker, sex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03 · EXERCICE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-594360"/>
            <a:ext cx="4389120" cy="21571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38912"/>
            <a:ext cx="26517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03 · PAUSE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9692640" cy="1417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A1A33"/>
                </a:solidFill>
                <a:latin typeface="Arial"/>
              </a:rPr>
              <a:t>Pause 10 minutes.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886200"/>
            <a:ext cx="9509760" cy="411480"/>
          </a:xfrm>
          <a:prstGeom prst="rect">
            <a:avLst/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014215"/>
            <a:ext cx="8869680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6745"/>
                </a:solidFill>
                <a:latin typeface="Arial"/>
              </a:rPr>
              <a:t>1:25 → 1:35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617720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74"/>
                </a:solidFill>
                <a:latin typeface="Arial"/>
              </a:rPr>
              <a:t>Au retour: mêmes gestes, mais avec Spark.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03 · PAUSE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-594360"/>
            <a:ext cx="4389120" cy="21571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051560"/>
            <a:ext cx="1828800" cy="2331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600" b="1">
                <a:solidFill>
                  <a:srgbClr val="1A1A33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554480"/>
            <a:ext cx="4114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A1A33"/>
                </a:solidFill>
                <a:latin typeface="Arial"/>
              </a:rPr>
              <a:t>SECTION 04 · 30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874519"/>
            <a:ext cx="7589520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A1A33"/>
                </a:solidFill>
                <a:latin typeface="Arial"/>
              </a:rPr>
              <a:t>Spark.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82112" y="3337560"/>
            <a:ext cx="65836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33"/>
                </a:solidFill>
                <a:latin typeface="Arial"/>
              </a:rPr>
              <a:t>Même table, exécution Databricks.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SECTION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04 ·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Spark en une image.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88696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74"/>
                </a:solidFill>
                <a:latin typeface="Arial"/>
              </a:rPr>
              <a:t>On évite les détails distribués cette semaine.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834640"/>
            <a:ext cx="1965960" cy="749808"/>
          </a:xfrm>
          <a:prstGeom prst="roundRect">
            <a:avLst/>
          </a:prstGeom>
          <a:solidFill>
            <a:srgbClr val="F2F1ED"/>
          </a:solidFill>
          <a:ln>
            <a:solidFill>
              <a:srgbClr val="F2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090672"/>
            <a:ext cx="174650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A1A33"/>
                </a:solidFill>
                <a:latin typeface="Arial"/>
              </a:rPr>
              <a:t>Notebook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07208" y="3209544"/>
            <a:ext cx="182880" cy="0"/>
          </a:xfrm>
          <a:prstGeom prst="line">
            <a:avLst/>
          </a:prstGeom>
          <a:ln w="12700">
            <a:solidFill>
              <a:srgbClr val="1A1A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81527" y="2834640"/>
            <a:ext cx="1965960" cy="749808"/>
          </a:xfrm>
          <a:prstGeom prst="roundRect">
            <a:avLst/>
          </a:prstGeom>
          <a:solidFill>
            <a:srgbClr val="FF6745"/>
          </a:solidFill>
          <a:ln>
            <a:solidFill>
              <a:srgbClr val="FF6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91256" y="3090672"/>
            <a:ext cx="174650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Cluster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38927" y="3209544"/>
            <a:ext cx="182881" cy="0"/>
          </a:xfrm>
          <a:prstGeom prst="line">
            <a:avLst/>
          </a:prstGeom>
          <a:ln w="12700">
            <a:solidFill>
              <a:srgbClr val="1A1A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13248" y="2834640"/>
            <a:ext cx="1965960" cy="749808"/>
          </a:xfrm>
          <a:prstGeom prst="roundRect">
            <a:avLst/>
          </a:prstGeom>
          <a:solidFill>
            <a:srgbClr val="F2F1ED"/>
          </a:solidFill>
          <a:ln>
            <a:solidFill>
              <a:srgbClr val="F2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22976" y="3090672"/>
            <a:ext cx="174650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A1A33"/>
                </a:solidFill>
                <a:latin typeface="Arial"/>
              </a:rPr>
              <a:t>Spark DataFrame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70648" y="3209544"/>
            <a:ext cx="182880" cy="0"/>
          </a:xfrm>
          <a:prstGeom prst="line">
            <a:avLst/>
          </a:prstGeom>
          <a:ln w="12700">
            <a:solidFill>
              <a:srgbClr val="1A1A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44967" y="2834640"/>
            <a:ext cx="1965960" cy="749808"/>
          </a:xfrm>
          <a:prstGeom prst="roundRect">
            <a:avLst/>
          </a:prstGeom>
          <a:solidFill>
            <a:srgbClr val="F2F1ED"/>
          </a:solidFill>
          <a:ln>
            <a:solidFill>
              <a:srgbClr val="F2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54695" y="3090672"/>
            <a:ext cx="174650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A1A33"/>
                </a:solidFill>
                <a:latin typeface="Arial"/>
              </a:rPr>
              <a:t>display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04 · MENTAL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04 ·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Lire avec Spark.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6537960" cy="333756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5989320" cy="2560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spark_df = spark.read.csv(
    "/FileStore/tables/insurance.csv",
    header=True,
    inferSchema=True
)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965960"/>
            <a:ext cx="3474720" cy="3337560"/>
          </a:xfrm>
          <a:prstGeom prst="rect">
            <a:avLst/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331720"/>
            <a:ext cx="28803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LECTURE GUIDÉE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788920"/>
            <a:ext cx="2743200" cy="1645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33"/>
                </a:solidFill>
                <a:latin typeface="Arial"/>
              </a:rPr>
              <a:t>Même CSV, autre moteur.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04 · 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04 · TRANSFORM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Sélectionner et filtrer.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6537960" cy="333756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5989320" cy="2560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spark_df.select("age", "charges")
spark_df.filter(spark_df.age &gt; 50)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965960"/>
            <a:ext cx="3474720" cy="3337560"/>
          </a:xfrm>
          <a:prstGeom prst="rect">
            <a:avLst/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331720"/>
            <a:ext cx="28803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LECTURE GUIDÉE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788920"/>
            <a:ext cx="2743200" cy="1645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33"/>
                </a:solidFill>
                <a:latin typeface="Arial"/>
              </a:rPr>
              <a:t>Même intention que pandas.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04 · 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04 · GROUPBY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GroupBy Spark.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6537960" cy="333756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5989320" cy="2560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from pyspark.sql.functions import avg
spark_df.groupBy("region").agg(
    avg("charges").alias("avg_charges")
)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965960"/>
            <a:ext cx="3474720" cy="3337560"/>
          </a:xfrm>
          <a:prstGeom prst="rect">
            <a:avLst/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331720"/>
            <a:ext cx="28803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LECTURE GUIDÉE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788920"/>
            <a:ext cx="2743200" cy="1645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33"/>
                </a:solidFill>
                <a:latin typeface="Arial"/>
              </a:rPr>
              <a:t>La syntaxe change, la question métier reste.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04 · GROUPBY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04 · 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pandas ou Spark 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34594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SITUATION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5008" y="1874519"/>
            <a:ext cx="34594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PANDAS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51648" y="1874519"/>
            <a:ext cx="34594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SPARK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569463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258568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Apprendre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5008" y="2258568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Excellent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1648" y="2258568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Bien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44951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34056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Petit 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5008" y="2734056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Simple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1648" y="2734056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Possible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520439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09544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Databricks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5008" y="3209544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1648" y="3209544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Naturel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611879"/>
            <a:ext cx="10927080" cy="384048"/>
          </a:xfrm>
          <a:prstGeom prst="rect">
            <a:avLst/>
          </a:prstGeom>
          <a:solidFill>
            <a:srgbClr val="C5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95927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685031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Très gros volume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5008" y="3685031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Limité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51648" y="3685031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Prévu pour ça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04 · COMPARE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-594360"/>
            <a:ext cx="4389120" cy="21571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051560"/>
            <a:ext cx="1828800" cy="2331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600" b="1">
                <a:solidFill>
                  <a:srgbClr val="1A1A33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554480"/>
            <a:ext cx="4114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A1A33"/>
                </a:solidFill>
                <a:latin typeface="Arial"/>
              </a:rPr>
              <a:t>SECTION 05 · 35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874519"/>
            <a:ext cx="7589520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A1A33"/>
                </a:solidFill>
                <a:latin typeface="Arial"/>
              </a:rPr>
              <a:t>SQL.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82112" y="3337560"/>
            <a:ext cx="65836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33"/>
                </a:solidFill>
                <a:latin typeface="Arial"/>
              </a:rPr>
              <a:t>Réutiliser un langage familier.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SECTION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05 ·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Créer une vue SQL.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6537960" cy="333756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5989320" cy="2560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spark_df.createOrReplaceTempView("insurance")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965960"/>
            <a:ext cx="3474720" cy="3337560"/>
          </a:xfrm>
          <a:prstGeom prst="rect">
            <a:avLst/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331720"/>
            <a:ext cx="28803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LECTURE GUIDÉE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788920"/>
            <a:ext cx="2743200" cy="1645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33"/>
                </a:solidFill>
                <a:latin typeface="Arial"/>
              </a:rPr>
              <a:t>SQL interroge la vue insurance.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05 ·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05 ·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COUNT.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6537960" cy="333756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5989320" cy="2560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SELECT COUNT(*) AS row_count
FROM insurance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965960"/>
            <a:ext cx="3474720" cy="3337560"/>
          </a:xfrm>
          <a:prstGeom prst="rect">
            <a:avLst/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331720"/>
            <a:ext cx="28803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LECTURE GUIDÉE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788920"/>
            <a:ext cx="2743200" cy="1645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33"/>
                </a:solidFill>
                <a:latin typeface="Arial"/>
              </a:rPr>
              <a:t>Premier contrôle: le volume chargé.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05 ·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05 · AVG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GROUP BY.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6537960" cy="333756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5989320" cy="2560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SELECT region,
       AVG(charges) AS avg_charges
FROM insurance
GROUP BY region
ORDER BY avg_charges DESC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965960"/>
            <a:ext cx="3474720" cy="3337560"/>
          </a:xfrm>
          <a:prstGeom prst="rect">
            <a:avLst/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331720"/>
            <a:ext cx="28803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LECTURE GUIDÉE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788920"/>
            <a:ext cx="2743200" cy="1645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33"/>
                </a:solidFill>
                <a:latin typeface="Arial"/>
              </a:rPr>
              <a:t>PROC SQL mental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05 · AVG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05 · EXERCICES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Templates SQL.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34594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5008" y="1874519"/>
            <a:ext cx="34594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MOT-CLÉ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51648" y="1874519"/>
            <a:ext cx="34594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À MODIFIER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569463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258568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Combien de lignes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5008" y="2258568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1648" y="2258568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nom de 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44951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34056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Moyenne des charges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5008" y="2734056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AVG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1648" y="2734056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colonne numérique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520439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09544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Par région 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5008" y="3209544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GROUP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1648" y="3209544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colonne segment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995927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685031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Fumeurs uniquement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5008" y="3685031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51648" y="3685031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condition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05 · EXERCICES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-594360"/>
            <a:ext cx="4389120" cy="21571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051560"/>
            <a:ext cx="1828800" cy="2331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600" b="1">
                <a:solidFill>
                  <a:srgbClr val="1A1A33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554480"/>
            <a:ext cx="4114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A1A33"/>
                </a:solidFill>
                <a:latin typeface="Arial"/>
              </a:rPr>
              <a:t>SECTION 06 · 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874519"/>
            <a:ext cx="7589520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A1A33"/>
                </a:solidFill>
                <a:latin typeface="Arial"/>
              </a:rPr>
              <a:t>Challenge.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82112" y="3337560"/>
            <a:ext cx="65836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33"/>
                </a:solidFill>
                <a:latin typeface="Arial"/>
              </a:rPr>
              <a:t>Identifier le segment le plus coûteux.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SECTION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06 · MÉTHODE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Méthode attendue.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88696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74"/>
                </a:solidFill>
                <a:latin typeface="Arial"/>
              </a:rPr>
              <a:t>Le livrable est une table et une phrase métier.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834640"/>
            <a:ext cx="1965960" cy="749808"/>
          </a:xfrm>
          <a:prstGeom prst="roundRect">
            <a:avLst/>
          </a:prstGeom>
          <a:solidFill>
            <a:srgbClr val="F2F1ED"/>
          </a:solidFill>
          <a:ln>
            <a:solidFill>
              <a:srgbClr val="F2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090672"/>
            <a:ext cx="174650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A1A33"/>
                </a:solidFill>
                <a:latin typeface="Arial"/>
              </a:rPr>
              <a:t>Choose segment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07208" y="3209544"/>
            <a:ext cx="182880" cy="0"/>
          </a:xfrm>
          <a:prstGeom prst="line">
            <a:avLst/>
          </a:prstGeom>
          <a:ln w="12700">
            <a:solidFill>
              <a:srgbClr val="1A1A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81527" y="2834640"/>
            <a:ext cx="1965960" cy="749808"/>
          </a:xfrm>
          <a:prstGeom prst="roundRect">
            <a:avLst/>
          </a:prstGeom>
          <a:solidFill>
            <a:srgbClr val="FF6745"/>
          </a:solidFill>
          <a:ln>
            <a:solidFill>
              <a:srgbClr val="FF6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91256" y="3090672"/>
            <a:ext cx="174650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Filter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38927" y="3209544"/>
            <a:ext cx="182881" cy="0"/>
          </a:xfrm>
          <a:prstGeom prst="line">
            <a:avLst/>
          </a:prstGeom>
          <a:ln w="12700">
            <a:solidFill>
              <a:srgbClr val="1A1A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13248" y="2834640"/>
            <a:ext cx="1965960" cy="749808"/>
          </a:xfrm>
          <a:prstGeom prst="roundRect">
            <a:avLst/>
          </a:prstGeom>
          <a:solidFill>
            <a:srgbClr val="F2F1ED"/>
          </a:solidFill>
          <a:ln>
            <a:solidFill>
              <a:srgbClr val="F2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22976" y="3090672"/>
            <a:ext cx="174650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A1A33"/>
                </a:solidFill>
                <a:latin typeface="Arial"/>
              </a:rPr>
              <a:t>Group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70648" y="3209544"/>
            <a:ext cx="182880" cy="0"/>
          </a:xfrm>
          <a:prstGeom prst="line">
            <a:avLst/>
          </a:prstGeom>
          <a:ln w="12700">
            <a:solidFill>
              <a:srgbClr val="1A1A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44967" y="2834640"/>
            <a:ext cx="1965960" cy="749808"/>
          </a:xfrm>
          <a:prstGeom prst="roundRect">
            <a:avLst/>
          </a:prstGeom>
          <a:solidFill>
            <a:srgbClr val="F2F1ED"/>
          </a:solidFill>
          <a:ln>
            <a:solidFill>
              <a:srgbClr val="F2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54695" y="3090672"/>
            <a:ext cx="174650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A1A33"/>
                </a:solidFill>
                <a:latin typeface="Arial"/>
              </a:rPr>
              <a:t>Sort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802367" y="3209544"/>
            <a:ext cx="182880" cy="0"/>
          </a:xfrm>
          <a:prstGeom prst="line">
            <a:avLst/>
          </a:prstGeom>
          <a:ln w="12700">
            <a:solidFill>
              <a:srgbClr val="1A1A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076688" y="2834640"/>
            <a:ext cx="1965960" cy="749808"/>
          </a:xfrm>
          <a:prstGeom prst="roundRect">
            <a:avLst/>
          </a:prstGeom>
          <a:solidFill>
            <a:srgbClr val="F2F1ED"/>
          </a:solidFill>
          <a:ln>
            <a:solidFill>
              <a:srgbClr val="F2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86415" y="3090672"/>
            <a:ext cx="174650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A1A33"/>
                </a:solidFill>
                <a:latin typeface="Arial"/>
              </a:rPr>
              <a:t>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06 · MÉTHODE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4688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06 · GRILLE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5953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33"/>
                </a:solidFill>
                <a:latin typeface="Arial"/>
              </a:rPr>
              <a:t>Grille de restitution.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0881360" cy="10972"/>
          </a:xfrm>
          <a:prstGeom prst="rect">
            <a:avLst/>
          </a:prstGeom>
          <a:solidFill>
            <a:srgbClr val="CDC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34594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ÉLÉMENT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5008" y="1874519"/>
            <a:ext cx="34594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ATTENDU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51648" y="1874519"/>
            <a:ext cx="34594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F6745"/>
                </a:solidFill>
                <a:latin typeface="Arial"/>
              </a:rPr>
              <a:t>EXEMPLE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569463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258568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5008" y="2258568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variable utilisée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1648" y="2258568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smoker + age_segment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44951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34056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Mesure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5008" y="2734056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moyenne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1648" y="2734056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AVG(charges)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520439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09544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Tri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5008" y="3209544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descendant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1648" y="3209544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coût le plus élevé en haut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611879"/>
            <a:ext cx="10927080" cy="384048"/>
          </a:xfrm>
          <a:prstGeom prst="rect">
            <a:avLst/>
          </a:prstGeom>
          <a:solidFill>
            <a:srgbClr val="C5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95927"/>
            <a:ext cx="10789920" cy="7315"/>
          </a:xfrm>
          <a:prstGeom prst="rect">
            <a:avLst/>
          </a:prstGeom>
          <a:solidFill>
            <a:srgbClr val="BEB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685031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1A1A33"/>
                </a:solidFill>
                <a:latin typeface="Arial"/>
              </a:rPr>
              <a:t>Phrase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5008" y="3685031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interprétation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51648" y="3685031"/>
            <a:ext cx="3432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06074"/>
                </a:solidFill>
                <a:latin typeface="Arial"/>
              </a:rPr>
              <a:t>Les fumeurs &gt;50 ans ont les charges moyennes les plus élevées.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06 · GRILLE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-594360"/>
            <a:ext cx="4389120" cy="21571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38912"/>
            <a:ext cx="26517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06 · 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9692640" cy="1417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A1A33"/>
                </a:solidFill>
                <a:latin typeface="Arial"/>
              </a:rPr>
              <a:t>Vous savez ouvrir,
exécuter,
manipuler,
interpréter.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886200"/>
            <a:ext cx="9509760" cy="411480"/>
          </a:xfrm>
          <a:prstGeom prst="rect">
            <a:avLst/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014215"/>
            <a:ext cx="8869680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6745"/>
                </a:solidFill>
                <a:latin typeface="Arial"/>
              </a:rPr>
              <a:t>Notebook · Python · pandas · Spark ·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617720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74"/>
                </a:solidFill>
                <a:latin typeface="Arial"/>
              </a:rPr>
              <a:t>La semaine 2 pourra aller vers Python avancé sans perdre les repères SAS.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06 · SYNTHÈSE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" y="1371600"/>
            <a:ext cx="1005840" cy="1005840"/>
          </a:xfrm>
          <a:prstGeom prst="ellipse">
            <a:avLst/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167335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A1A33"/>
                </a:solidFill>
                <a:latin typeface="Arial"/>
              </a:rP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542032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A1A33"/>
                </a:solidFill>
                <a:latin typeface="Arial"/>
              </a:rPr>
              <a:t>Learner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61488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606074"/>
                </a:solidFill>
                <a:latin typeface="Arial"/>
              </a:rPr>
              <a:t>Fin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17320"/>
            <a:ext cx="6858000" cy="1463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1A1A33"/>
                </a:solidFill>
                <a:latin typeface="Arial"/>
              </a:rPr>
              <a:t>Je ne connais pas tout Python, mais je sais exécuter une analyse guidée dans Databricks.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606074"/>
                </a:solidFill>
                <a:latin typeface="Arial"/>
              </a:rPr>
              <a:t>06 · FIN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46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1">
                <a:solidFill>
                  <a:srgbClr val="606074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